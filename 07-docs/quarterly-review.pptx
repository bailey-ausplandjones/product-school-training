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Day-7 retention</c:v>
                </c:pt>
              </c:strCache>
            </c:strRef>
          </c:tx>
          <c:spPr>
            <a:solidFill>
              <a:srgbClr val="FF6B5B"/>
            </a:solidFill>
          </c:spPr>
          <c:cat>
            <c:strRef>
              <c:f>Sheet1!$A$2:$A$5</c:f>
              <c:strCache>
                <c:ptCount val="4"/>
                <c:pt idx="0">
                  <c:v>Week 1</c:v>
                </c:pt>
                <c:pt idx="1">
                  <c:v>Week 2</c:v>
                </c:pt>
                <c:pt idx="2">
                  <c:v>Week 3</c:v>
                </c:pt>
                <c:pt idx="3">
                  <c:v>Week 4</c:v>
                </c:pt>
              </c:strCache>
            </c:strRef>
          </c:cat>
          <c:val>
            <c:numRef>
              <c:f>Sheet1!$B$2:$B$5</c:f>
              <c:numCache>
                <c:formatCode>General</c:formatCode>
                <c:ptCount val="4"/>
                <c:pt idx="0">
                  <c:v>37.0</c:v>
                </c:pt>
                <c:pt idx="1">
                  <c:v>37.0</c:v>
                </c:pt>
                <c:pt idx="2">
                  <c:v>31.0</c:v>
                </c:pt>
                <c:pt idx="3">
                  <c:v>27.0</c:v>
                </c:pt>
              </c:numCache>
            </c:numRef>
          </c:val>
        </c:ser>
        <c:dLbls>
          <c:numFmt formatCode="0&quot;%&quot;" sourceLinked="0"/>
          <c:txPr>
            <a:bodyPr/>
            <a:lstStyle/>
            <a:p>
              <a:pPr>
                <a:defRPr sz="1300" b="1">
                  <a:solidFill>
                    <a:srgbClr val="FFFFFF"/>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nextTo"/>
        <c:spPr>
          <a:ln>
            <a:noFill/>
          </a:ln>
        </c:spPr>
        <c:txPr>
          <a:bodyPr/>
          <a:lstStyle/>
          <a:p>
            <a:pPr>
              <a:defRPr sz="1100">
                <a:solidFill>
                  <a:srgbClr val="9AA0C3"/>
                </a:solidFill>
                <a:latin typeface="Calibri"/>
              </a:defRPr>
            </a:pPr>
          </a:p>
        </c:txPr>
        <c:crossAx val="-2113994440"/>
        <c:crosses val="autoZero"/>
        <c:auto val="1"/>
        <c:lblAlgn val="ctr"/>
        <c:lblOffset val="100"/>
        <c:noMultiLvlLbl val="0"/>
      </c:catAx>
      <c:valAx>
        <c:axId val="-2113994440"/>
        <c:scaling>
          <c:max val="50.0"/>
          <c:min val="0.0"/>
        </c:scaling>
        <c:delete val="0"/>
        <c:axPos val="l"/>
        <c:majorGridlines>
          <c:spPr>
            <a:ln w="9525">
              <a:solidFill>
                <a:srgbClr val="333760"/>
              </a:solidFill>
            </a:ln>
          </c:spPr>
        </c:majorGridlines>
        <c:numFmt formatCode="0&quot;%&quot;" sourceLinked="0"/>
        <c:majorTickMark val="none"/>
        <c:minorTickMark val="none"/>
        <c:tickLblPos val="nextTo"/>
        <c:spPr>
          <a:ln>
            <a:noFill/>
          </a:ln>
        </c:spPr>
        <c:txPr>
          <a:bodyPr/>
          <a:lstStyle/>
          <a:p>
            <a:pPr>
              <a:defRPr sz="1100">
                <a:solidFill>
                  <a:srgbClr val="9AA0C3"/>
                </a:solidFill>
                <a:latin typeface="Calibri"/>
              </a:defRPr>
            </a:pPr>
          </a:p>
        </c:txPr>
        <c:crossAx val="-2068027336"/>
        <c:crosses val="autoZero"/>
        <c:majorUnit val="10.0"/>
      </c:valAx>
      <c:spPr>
        <a:noFill/>
        <a:ln>
          <a:noFill/>
        </a:ln>
      </c:spPr>
    </c:plotArea>
    <c:dispBlanksAs val="gap"/>
  </c:chart>
  <c:spPr>
    <a:noFill/>
    <a:ln>
      <a:noFill/>
    </a:ln>
  </c:spPr>
  <c:txPr>
    <a:bodyPr/>
    <a:lstStyle/>
    <a:p>
      <a:pPr>
        <a:defRPr sz="18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Comeback</c:v>
                </c:pt>
              </c:strCache>
            </c:strRef>
          </c:tx>
          <c:spPr>
            <a:solidFill>
              <a:srgbClr val="FF6B5B"/>
            </a:solidFill>
          </c:spPr>
          <c:cat>
            <c:strRef>
              <c:f>Sheet1!$A$2:$A$4</c:f>
              <c:strCache>
                <c:ptCount val="3"/>
                <c:pt idx="0">
                  <c:v>All week-5 users</c:v>
                </c:pt>
                <c:pt idx="1">
                  <c:v>Intact streak</c:v>
                </c:pt>
                <c:pt idx="2">
                  <c:v>Broke a streak</c:v>
                </c:pt>
              </c:strCache>
            </c:strRef>
          </c:cat>
          <c:val>
            <c:numRef>
              <c:f>Sheet1!$B$2:$B$4</c:f>
              <c:numCache>
                <c:formatCode>General</c:formatCode>
                <c:ptCount val="3"/>
                <c:pt idx="0">
                  <c:v>76.0</c:v>
                </c:pt>
                <c:pt idx="1">
                  <c:v>93.3</c:v>
                </c:pt>
                <c:pt idx="2">
                  <c:v>50.0</c:v>
                </c:pt>
              </c:numCache>
            </c:numRef>
          </c:val>
        </c:ser>
        <c:ser>
          <c:idx val="1"/>
          <c:order val="1"/>
          <c:tx>
            <c:strRef>
              <c:f>Sheet1!$C$1</c:f>
              <c:strCache>
                <c:ptCount val="1"/>
                <c:pt idx="0">
                  <c:v>Control</c:v>
                </c:pt>
              </c:strCache>
            </c:strRef>
          </c:tx>
          <c:spPr>
            <a:solidFill>
              <a:srgbClr val="B9BED0"/>
            </a:solidFill>
          </c:spPr>
          <c:cat>
            <c:strRef>
              <c:f>Sheet1!$A$2:$A$4</c:f>
              <c:strCache>
                <c:ptCount val="3"/>
                <c:pt idx="0">
                  <c:v>All week-5 users</c:v>
                </c:pt>
                <c:pt idx="1">
                  <c:v>Intact streak</c:v>
                </c:pt>
                <c:pt idx="2">
                  <c:v>Broke a streak</c:v>
                </c:pt>
              </c:strCache>
            </c:strRef>
          </c:cat>
          <c:val>
            <c:numRef>
              <c:f>Sheet1!$C$2:$C$4</c:f>
              <c:numCache>
                <c:formatCode>General</c:formatCode>
                <c:ptCount val="3"/>
                <c:pt idx="0">
                  <c:v>46.0</c:v>
                </c:pt>
                <c:pt idx="1">
                  <c:v>64.0</c:v>
                </c:pt>
                <c:pt idx="2">
                  <c:v>28.0</c:v>
                </c:pt>
              </c:numCache>
            </c:numRef>
          </c:val>
        </c:ser>
        <c:dLbls>
          <c:numFmt formatCode="0&quot;%&quot;" sourceLinked="0"/>
          <c:txPr>
            <a:bodyPr/>
            <a:lstStyle/>
            <a:p>
              <a:pPr>
                <a:defRPr sz="1200" b="1">
                  <a:solidFill>
                    <a:srgbClr val="1A1C3A"/>
                  </a:solidFill>
                  <a:latin typeface="Calibri"/>
                </a:defRPr>
              </a:pPr>
            </a:p>
          </c:txPr>
          <c:dLblPos val="outEnd"/>
          <c:showLegendKey val="0"/>
          <c:showVal val="1"/>
          <c:showCatName val="0"/>
          <c:showSerName val="0"/>
          <c:showPercent val="0"/>
          <c:showBubbleSize val="0"/>
          <c:showLeaderLines val="1"/>
        </c:dLbls>
        <c:gapWidth val="70"/>
        <c:overlap val="-12"/>
        <c:axId val="-2068027336"/>
        <c:axId val="-2113994440"/>
      </c:barChart>
      <c:catAx>
        <c:axId val="-2068027336"/>
        <c:scaling>
          <c:orientation val="minMax"/>
        </c:scaling>
        <c:delete val="0"/>
        <c:axPos val="b"/>
        <c:majorTickMark val="none"/>
        <c:minorTickMark val="none"/>
        <c:tickLblPos val="nextTo"/>
        <c:spPr>
          <a:ln>
            <a:noFill/>
          </a:ln>
        </c:spPr>
        <c:txPr>
          <a:bodyPr/>
          <a:lstStyle/>
          <a:p>
            <a:pPr>
              <a:defRPr sz="1100">
                <a:solidFill>
                  <a:srgbClr val="5E637A"/>
                </a:solidFill>
                <a:latin typeface="Calibri"/>
              </a:defRPr>
            </a:pPr>
          </a:p>
        </c:txPr>
        <c:crossAx val="-2113994440"/>
        <c:crosses val="autoZero"/>
        <c:auto val="1"/>
        <c:lblAlgn val="ctr"/>
        <c:lblOffset val="100"/>
        <c:noMultiLvlLbl val="0"/>
      </c:catAx>
      <c:valAx>
        <c:axId val="-2113994440"/>
        <c:scaling>
          <c:max val="100.0"/>
          <c:min val="0.0"/>
        </c:scaling>
        <c:delete val="0"/>
        <c:axPos val="l"/>
        <c:majorGridlines>
          <c:spPr>
            <a:ln w="9525">
              <a:solidFill>
                <a:srgbClr val="E2E5EE"/>
              </a:solidFill>
            </a:ln>
          </c:spPr>
        </c:majorGridlines>
        <c:numFmt formatCode="0&quot;%&quot;" sourceLinked="0"/>
        <c:majorTickMark val="none"/>
        <c:minorTickMark val="none"/>
        <c:tickLblPos val="nextTo"/>
        <c:spPr>
          <a:ln>
            <a:noFill/>
          </a:ln>
        </c:spPr>
        <c:txPr>
          <a:bodyPr/>
          <a:lstStyle/>
          <a:p>
            <a:pPr>
              <a:defRPr sz="1100">
                <a:solidFill>
                  <a:srgbClr val="5E637A"/>
                </a:solidFill>
                <a:latin typeface="Calibri"/>
              </a:defRPr>
            </a:pPr>
          </a:p>
        </c:txPr>
        <c:crossAx val="-2068027336"/>
        <c:crosses val="autoZero"/>
        <c:majorUnit val="25.0"/>
      </c:valAx>
      <c:spPr>
        <a:noFill/>
        <a:ln>
          <a:noFill/>
        </a:ln>
      </c:spPr>
    </c:plotArea>
    <c:legend>
      <c:legendPos val="t"/>
      <c:overlay val="0"/>
      <c:txPr>
        <a:bodyPr/>
        <a:lstStyle/>
        <a:p>
          <a:pPr>
            <a:defRPr sz="1200">
              <a:solidFill>
                <a:srgbClr val="1A1C3A"/>
              </a:solidFill>
              <a:latin typeface="Calibri"/>
            </a:defRPr>
          </a:pPr>
        </a:p>
      </c:txPr>
    </c:legend>
    <c:dispBlanksAs val="gap"/>
  </c:chart>
  <c:spPr>
    <a:noFill/>
    <a:ln>
      <a:noFill/>
    </a:ln>
  </c:spPr>
  <c:txPr>
    <a:bodyPr/>
    <a:lstStyle/>
    <a:p>
      <a:pPr>
        <a:defRPr sz="18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Projected Day-7</c:v>
                </c:pt>
              </c:strCache>
            </c:strRef>
          </c:tx>
          <c:spPr>
            <a:solidFill>
              <a:srgbClr val="FFC145"/>
            </a:solidFill>
          </c:spPr>
          <c:dPt>
            <c:idx val="0"/>
            <c:spPr>
              <a:solidFill>
                <a:srgbClr val="FFC145"/>
              </a:solidFill>
            </c:spPr>
          </c:dPt>
          <c:dPt>
            <c:idx val="1"/>
            <c:spPr>
              <a:solidFill>
                <a:srgbClr val="B9BED0"/>
              </a:solidFill>
            </c:spPr>
          </c:dPt>
          <c:dPt>
            <c:idx val="2"/>
            <c:spPr>
              <a:solidFill>
                <a:srgbClr val="3FB8A0"/>
              </a:solidFill>
            </c:spPr>
          </c:dPt>
          <c:cat>
            <c:strRef>
              <c:f>Sheet1!$A$2:$A$4</c:f>
              <c:strCache>
                <c:ptCount val="3"/>
                <c:pt idx="0">
                  <c:v>Breakers only</c:v>
                </c:pt>
                <c:pt idx="1">
                  <c:v>Target</c:v>
                </c:pt>
                <c:pt idx="2">
                  <c:v>Non-breakers</c:v>
                </c:pt>
              </c:strCache>
            </c:strRef>
          </c:cat>
          <c:val>
            <c:numRef>
              <c:f>Sheet1!$B$2:$B$4</c:f>
              <c:numCache>
                <c:formatCode>General</c:formatCode>
                <c:ptCount val="3"/>
                <c:pt idx="0">
                  <c:v>46.9</c:v>
                </c:pt>
                <c:pt idx="1">
                  <c:v>48.0</c:v>
                </c:pt>
                <c:pt idx="2">
                  <c:v>56.7</c:v>
                </c:pt>
              </c:numCache>
            </c:numRef>
          </c:val>
        </c:ser>
        <c:dLbls>
          <c:numFmt formatCode="0.0&quot;%&quot;" sourceLinked="0"/>
          <c:txPr>
            <a:bodyPr/>
            <a:lstStyle/>
            <a:p>
              <a:pPr>
                <a:defRPr sz="1200" b="1">
                  <a:solidFill>
                    <a:srgbClr val="FFFFFF"/>
                  </a:solidFill>
                  <a:latin typeface="Calibri"/>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nextTo"/>
        <c:spPr>
          <a:ln>
            <a:noFill/>
          </a:ln>
        </c:spPr>
        <c:txPr>
          <a:bodyPr/>
          <a:lstStyle/>
          <a:p>
            <a:pPr>
              <a:defRPr sz="1100">
                <a:solidFill>
                  <a:srgbClr val="9AA0C3"/>
                </a:solidFill>
                <a:latin typeface="Calibri"/>
              </a:defRPr>
            </a:pPr>
          </a:p>
        </c:txPr>
        <c:crossAx val="-2113994440"/>
        <c:crosses val="autoZero"/>
        <c:auto val="1"/>
        <c:lblAlgn val="ctr"/>
        <c:lblOffset val="100"/>
        <c:noMultiLvlLbl val="0"/>
      </c:catAx>
      <c:valAx>
        <c:axId val="-2113994440"/>
        <c:scaling>
          <c:max val="60.0"/>
          <c:min val="0.0"/>
        </c:scaling>
        <c:delete val="0"/>
        <c:axPos val="l"/>
        <c:majorGridlines>
          <c:spPr>
            <a:ln w="9525">
              <a:solidFill>
                <a:srgbClr val="333760"/>
              </a:solidFill>
            </a:ln>
          </c:spPr>
        </c:majorGridlines>
        <c:numFmt formatCode="0&quot;%&quot;" sourceLinked="0"/>
        <c:majorTickMark val="none"/>
        <c:minorTickMark val="none"/>
        <c:tickLblPos val="nextTo"/>
        <c:spPr>
          <a:ln>
            <a:noFill/>
          </a:ln>
        </c:spPr>
        <c:txPr>
          <a:bodyPr/>
          <a:lstStyle/>
          <a:p>
            <a:pPr>
              <a:defRPr sz="1100">
                <a:solidFill>
                  <a:srgbClr val="9AA0C3"/>
                </a:solidFill>
                <a:latin typeface="Calibri"/>
              </a:defRPr>
            </a:pPr>
          </a:p>
        </c:txPr>
        <c:crossAx val="-2068027336"/>
        <c:crosses val="autoZero"/>
        <c:majorUnit val="20.0"/>
      </c:valAx>
      <c:spPr>
        <a:noFill/>
        <a:ln>
          <a:noFill/>
        </a:ln>
      </c:spPr>
    </c:plotArea>
    <c:dispBlanksAs val="gap"/>
  </c:chart>
  <c:spPr>
    <a:noFill/>
    <a:ln>
      <a:noFill/>
    </a:ln>
  </c:spPr>
  <c:txPr>
    <a:bodyPr/>
    <a:lstStyle/>
    <a:p>
      <a:pPr>
        <a:defRPr sz="18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walk through any of this, I want to be clear about what I am asking for: one more cohort and a ruling on scope, not approval for full rollout. The number on this slide is the decay — Day-7 retention went 37, 37, 31, 27 across our first four cohorts, about three points a week, and it has not flattened. The insight underneath it is the Day-1 row: it sits at 90 to 93 percent in every single cohort, which tells us acquisition quality and the install-day experience are fine, and everything we lose we lose between day one and day seven. So this is not a top-of-funnel problem we can fix by buying better users, and it is not a first-impression problem — it is a week-one problem, which is exactly the window this project targets. What I want you to take from this slide is that we are intervening in the right place, and that the problem is actively getting worse while we decide.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funnel number you have asked me for twice, and I finally have it. The streak-break segment is real and it is bad — 190 users, 38 percent of the base, retaining at 26.8 percent against 45.8 for everyone else, a 19-point gap at p less than 0.0001. But 55 percent of our Day-7 churn never broke a streak at all: of the 307 users who failed Day-7, 168 had an intact streak the whole time. That means the lost-streak moment is worth at most 7.2 points of our 9.4-point gap — genuinely significant, and genuinely not the majority of the problem. The takeaway I want before we move on is uncomfortable but it is the reason this is a “why now” and not a victory lap: the rationale we scoped this project on was directionally right and materially incomplete, and we were two weeks from committing a sprint to the smaller half of the problem. On cost of waiting — the decay rate is the honest answer today; the absolute number in users is one data point from growth and I will have it Thursday.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is: a free, one-tap path back to your prior streak, earned by completing a 60-second lesson, with copy that coaches instead of scolding — and, based on the sizing on the last slide, pointed at the intact-streak segment first rather than the breakers. That is 62 percent of users, it is the only statistically significant result we have, and it is unclaimed competitively: Duolingo paywalls freeze and repair, Babbel sidesteps streaks entirely, and Elevate, Streaks, and Habitica offer no real recovery at all. Now the three things it is not, starting with the one you should hear from me rather than find on your own: you approved a recovery flow plus early pre-day-7 milestone moments plus a state-aware home screen, and only the recovery flow was built and tested. That was my call — I wanted a clean read on one variable instead of a muddy read on three — but it means everything on the next slide tells you about one-third of what you signed off on. It is also not a long-term retention fix: Day-30 is 12.6 percent for breakers and non-breakers alike, so this wins the first week and we should not sell it as more. And I will flag that my own analysis doc and this memo disagree on which segment to lead with, which is why ruling on that is decision two.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is a genuine, significant result: plus 30 points on Day-7, 76 percent treatment against 46 percent control, at p equals 0.002. Read down the table though, because the story is in the split — the intact-streak segment is 93 against 64 at p equals 0.007, and the segment we actually built this for, the streak-breakers, is 50 against 28 at p equals 0.13, which is not significant. The mechanism is returns rather than depth: comeback users logged 5.3 sessions to control's 3.7 at basically identical session length, so they are coming back more often, not staying longer. It is also not the notifications doing the work — inside the comeback arm, users who never tapped a single send still retained at 73.9 percent versus 77.8 for users who did, a four-point difference that is nothing at this sample size. I want to state the three caveats myself before anyone else does: n equals 50 per arm cannot carry a rollout decision, week five is confounded because control alone hit 46 percent against 27 in week four, and the arms were unbalanced on streak-break status in the direction that flatters us — so the honest claim is the plus-30 within-week delta, never “we went from 27 to 76.” And the finding that worries me most is at the bottom: current_streak is zero for all 190 streak-breakers, including every treated one, which means the flow restarted zero streaks. It bought us returns, not habit.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 am proposing is two weeks to a decision-grade read with no new product work — a second cohort at 200 or more per arm, randomized on streak-break status so the arms are actually balanced on the strongest predictor, and sized for Day-30 rather than Day-7. The two measurement fixes in the middle are not optional: our control arm sat at exactly 4.0 percent open rate at every single send number with zero actions across all 200 rows, which is a logging gap rather than a baseline, and our open rate rises with send number from 28 to 56 percent, which almost certainly means a wrong denominator rather than escalating effectiveness. On risks, I will name the four plainly — week-five control outperformed week four by 19 points and we do not know why, which is the biggest threat to this entire read; engineering has not costed what we built, because Raj scoped a streak freeze and the prototype does a retroactive restore; our solution evidence is a three-persona roleplay rather than real users; and shipping on n equals 50 risks rolling out to the wrong 38 percent and burning the credibility we need for the next engagement bet. To answer the question you always ask directly: I would not call this pressure-tested yet, and that is a deliberate statement rather than a hedge. On timeline, I cannot give you a credible rollout date until Thursday's triad closes five blocking decisions, and you will have the date the day after.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decisions, and the second one is the only one that cannot wait. First, approve the second cohort — two weeks, no new product work, just re-randomization and instrumentation. Second, rule on scope: do we keep chasing streak-breakers per the original rationale, or follow the evidence to the intact-streak segment — and I recommend the latter, because the scenario math is decisive, with the breaker lift alone landing Day-7 at 46.9 percent, short of our 48 target, while the non-breaker lift clears it at 56.7. Third, tell me whether you want a real A/B test or a staged rollout, because that materially changes the timeline I bring you. To be explicit about what I am not asking for: no full rollout, no sprint commitment, and no rollout date today. If you need to take these async that works — but decision two determines what the second cohort randomizes on, so I need it before we start, and you will get the rollout date Friday and the cost-of-waiting number in users Thursday either 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C3A"/>
        </a:solidFill>
        <a:effectLst/>
      </p:bgPr>
    </p:bg>
    <p:spTree>
      <p:nvGrpSpPr>
        <p:cNvPr id="1" name=""/>
        <p:cNvGrpSpPr/>
        <p:nvPr/>
      </p:nvGrpSpPr>
      <p:grpSpPr/>
      <p:sp>
        <p:nvSpPr>
          <p:cNvPr id="2" name="TextBox 1"/>
          <p:cNvSpPr txBox="1"/>
          <p:nvPr/>
        </p:nvSpPr>
        <p:spPr>
          <a:xfrm>
            <a:off x="548640" y="457200"/>
            <a:ext cx="11064240" cy="274320"/>
          </a:xfrm>
          <a:prstGeom prst="rect">
            <a:avLst/>
          </a:prstGeom>
          <a:noFill/>
        </p:spPr>
        <p:txBody>
          <a:bodyPr wrap="square" lIns="0" rIns="0" tIns="0" bIns="0" anchor="t">
            <a:spAutoFit/>
          </a:bodyPr>
          <a:lstStyle/>
          <a:p>
            <a:pPr algn="l">
              <a:spcBef>
                <a:spcPts val="0"/>
              </a:spcBef>
              <a:spcAft>
                <a:spcPts val="0"/>
              </a:spcAft>
            </a:pPr>
            <a:r>
              <a:rPr sz="1150" b="1" i="0">
                <a:solidFill>
                  <a:srgbClr val="FF6B5B"/>
                </a:solidFill>
                <a:latin typeface="Calibri"/>
              </a:rPr>
              <a:t>THE ASK  ·  ONE MORE COHORT AND A SCOPE RULING — NOT FULL ROLLOUT</a:t>
            </a:r>
          </a:p>
        </p:txBody>
      </p:sp>
      <p:sp>
        <p:nvSpPr>
          <p:cNvPr id="3" name="TextBox 2"/>
          <p:cNvSpPr txBox="1"/>
          <p:nvPr/>
        </p:nvSpPr>
        <p:spPr>
          <a:xfrm>
            <a:off x="548640" y="841248"/>
            <a:ext cx="11064240" cy="868680"/>
          </a:xfrm>
          <a:prstGeom prst="rect">
            <a:avLst/>
          </a:prstGeom>
          <a:noFill/>
        </p:spPr>
        <p:txBody>
          <a:bodyPr wrap="square" lIns="0" rIns="0" tIns="0" bIns="0" anchor="t">
            <a:spAutoFit/>
          </a:bodyPr>
          <a:lstStyle/>
          <a:p>
            <a:pPr algn="l">
              <a:lnSpc>
                <a:spcPct val="100000"/>
              </a:lnSpc>
              <a:spcBef>
                <a:spcPts val="0"/>
              </a:spcBef>
              <a:spcAft>
                <a:spcPts val="0"/>
              </a:spcAft>
            </a:pPr>
            <a:r>
              <a:rPr sz="3400" b="1" i="0">
                <a:solidFill>
                  <a:srgbClr val="FFFFFF"/>
                </a:solidFill>
                <a:latin typeface="Cambria"/>
              </a:rPr>
              <a:t>Day-7 is decaying, and the leak is entirely in week one</a:t>
            </a:r>
          </a:p>
        </p:txBody>
      </p:sp>
      <p:sp>
        <p:nvSpPr>
          <p:cNvPr id="4" name="TextBox 3"/>
          <p:cNvSpPr txBox="1"/>
          <p:nvPr/>
        </p:nvSpPr>
        <p:spPr>
          <a:xfrm>
            <a:off x="548640" y="1783080"/>
            <a:ext cx="11064240" cy="274320"/>
          </a:xfrm>
          <a:prstGeom prst="rect">
            <a:avLst/>
          </a:prstGeom>
          <a:noFill/>
        </p:spPr>
        <p:txBody>
          <a:bodyPr wrap="square" lIns="0" rIns="0" tIns="0" bIns="0" anchor="t">
            <a:spAutoFit/>
          </a:bodyPr>
          <a:lstStyle/>
          <a:p>
            <a:pPr algn="l">
              <a:spcBef>
                <a:spcPts val="0"/>
              </a:spcBef>
              <a:spcAft>
                <a:spcPts val="0"/>
              </a:spcAft>
            </a:pPr>
            <a:r>
              <a:rPr sz="1300" b="0" i="0">
                <a:solidFill>
                  <a:srgbClr val="9AA0C3"/>
                </a:solidFill>
                <a:latin typeface="Calibri"/>
              </a:rPr>
              <a:t>Target ≥ 48%        Actual 39%        Gap 9.4 points</a:t>
            </a:r>
          </a:p>
        </p:txBody>
      </p:sp>
      <p:sp>
        <p:nvSpPr>
          <p:cNvPr id="5" name="TextBox 4"/>
          <p:cNvSpPr txBox="1"/>
          <p:nvPr/>
        </p:nvSpPr>
        <p:spPr>
          <a:xfrm>
            <a:off x="548640" y="2240280"/>
            <a:ext cx="5120640" cy="822960"/>
          </a:xfrm>
          <a:prstGeom prst="rect">
            <a:avLst/>
          </a:prstGeom>
          <a:noFill/>
        </p:spPr>
        <p:txBody>
          <a:bodyPr wrap="square" lIns="0" rIns="0" tIns="0" bIns="0" anchor="t">
            <a:spAutoFit/>
          </a:bodyPr>
          <a:lstStyle/>
          <a:p>
            <a:pPr algn="l">
              <a:spcBef>
                <a:spcPts val="0"/>
              </a:spcBef>
              <a:spcAft>
                <a:spcPts val="0"/>
              </a:spcAft>
            </a:pPr>
            <a:r>
              <a:rPr sz="5000" b="1" i="0">
                <a:solidFill>
                  <a:srgbClr val="FF6B5B"/>
                </a:solidFill>
                <a:latin typeface="Cambria"/>
              </a:rPr>
              <a:t>37% → 27%</a:t>
            </a:r>
          </a:p>
        </p:txBody>
      </p:sp>
      <p:sp>
        <p:nvSpPr>
          <p:cNvPr id="6" name="TextBox 5"/>
          <p:cNvSpPr txBox="1"/>
          <p:nvPr/>
        </p:nvSpPr>
        <p:spPr>
          <a:xfrm>
            <a:off x="548640" y="3044952"/>
            <a:ext cx="5120640" cy="274320"/>
          </a:xfrm>
          <a:prstGeom prst="rect">
            <a:avLst/>
          </a:prstGeom>
          <a:noFill/>
        </p:spPr>
        <p:txBody>
          <a:bodyPr wrap="square" lIns="0" rIns="0" tIns="0" bIns="0" anchor="t">
            <a:spAutoFit/>
          </a:bodyPr>
          <a:lstStyle/>
          <a:p>
            <a:pPr algn="l">
              <a:spcBef>
                <a:spcPts val="0"/>
              </a:spcBef>
              <a:spcAft>
                <a:spcPts val="0"/>
              </a:spcAft>
            </a:pPr>
            <a:r>
              <a:rPr sz="1050" b="1" i="0">
                <a:solidFill>
                  <a:srgbClr val="9AA0C3"/>
                </a:solidFill>
                <a:latin typeface="Calibri"/>
              </a:rPr>
              <a:t>DAY-7 RETENTION, COHORT WEEKS 1–4</a:t>
            </a:r>
          </a:p>
        </p:txBody>
      </p:sp>
      <p:sp>
        <p:nvSpPr>
          <p:cNvPr id="7" name="TextBox 6"/>
          <p:cNvSpPr txBox="1"/>
          <p:nvPr/>
        </p:nvSpPr>
        <p:spPr>
          <a:xfrm>
            <a:off x="548640" y="3429000"/>
            <a:ext cx="5120640" cy="548640"/>
          </a:xfrm>
          <a:prstGeom prst="rect">
            <a:avLst/>
          </a:prstGeom>
          <a:noFill/>
        </p:spPr>
        <p:txBody>
          <a:bodyPr wrap="square" lIns="0" rIns="0" tIns="0" bIns="0" anchor="t">
            <a:spAutoFit/>
          </a:bodyPr>
          <a:lstStyle/>
          <a:p>
            <a:pPr algn="l">
              <a:lnSpc>
                <a:spcPct val="125000"/>
              </a:lnSpc>
              <a:spcBef>
                <a:spcPts val="0"/>
              </a:spcBef>
              <a:spcAft>
                <a:spcPts val="0"/>
              </a:spcAft>
            </a:pPr>
            <a:r>
              <a:rPr sz="1550" b="0" i="0">
                <a:solidFill>
                  <a:srgbClr val="FFFFFF"/>
                </a:solidFill>
                <a:latin typeface="Calibri"/>
              </a:rPr>
              <a:t>About three points a week, with no sign of flattening.</a:t>
            </a:r>
          </a:p>
        </p:txBody>
      </p:sp>
      <p:sp>
        <p:nvSpPr>
          <p:cNvPr id="8" name="Rounded Rectangle 7"/>
          <p:cNvSpPr/>
          <p:nvPr/>
        </p:nvSpPr>
        <p:spPr>
          <a:xfrm>
            <a:off x="548640" y="4160520"/>
            <a:ext cx="5120640" cy="1645920"/>
          </a:xfrm>
          <a:prstGeom prst="roundRect">
            <a:avLst>
              <a:gd name="adj" fmla="val 4500"/>
            </a:avLst>
          </a:prstGeom>
          <a:solidFill>
            <a:srgbClr val="26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41248" y="4443984"/>
            <a:ext cx="155448" cy="155448"/>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5568" y="4407408"/>
            <a:ext cx="4297680" cy="228600"/>
          </a:xfrm>
          <a:prstGeom prst="rect">
            <a:avLst/>
          </a:prstGeom>
          <a:noFill/>
        </p:spPr>
        <p:txBody>
          <a:bodyPr wrap="square" lIns="0" rIns="0" tIns="0" bIns="0" anchor="t">
            <a:spAutoFit/>
          </a:bodyPr>
          <a:lstStyle/>
          <a:p>
            <a:pPr algn="l">
              <a:spcBef>
                <a:spcPts val="0"/>
              </a:spcBef>
              <a:spcAft>
                <a:spcPts val="0"/>
              </a:spcAft>
            </a:pPr>
            <a:r>
              <a:rPr sz="1050" b="1" i="0">
                <a:solidFill>
                  <a:srgbClr val="FF6B5B"/>
                </a:solidFill>
                <a:latin typeface="Calibri"/>
              </a:rPr>
              <a:t>THE INSIGHT</a:t>
            </a:r>
          </a:p>
        </p:txBody>
      </p:sp>
      <p:sp>
        <p:nvSpPr>
          <p:cNvPr id="11" name="TextBox 10"/>
          <p:cNvSpPr txBox="1"/>
          <p:nvPr/>
        </p:nvSpPr>
        <p:spPr>
          <a:xfrm>
            <a:off x="841248" y="4736592"/>
            <a:ext cx="4526280" cy="96012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FFFFFF"/>
                </a:solidFill>
                <a:latin typeface="Calibri"/>
              </a:rPr>
              <a:t>Day-1 is flat at 90–93% in every cohort. Acquisition quality and the install-day experience are not the problem — everything we lose, we lose between day 1 and day 7.</a:t>
            </a:r>
          </a:p>
        </p:txBody>
      </p:sp>
      <p:graphicFrame>
        <p:nvGraphicFramePr>
          <p:cNvPr id="12" name="Chart 11"/>
          <p:cNvGraphicFramePr>
            <a:graphicFrameLocks noGrp="1"/>
          </p:cNvGraphicFramePr>
          <p:nvPr/>
        </p:nvGraphicFramePr>
        <p:xfrm>
          <a:off x="6355080" y="2240280"/>
          <a:ext cx="5285232" cy="3566160"/>
        </p:xfrm>
        <a:graphic>
          <a:graphicData uri="http://schemas.openxmlformats.org/drawingml/2006/chart">
            <c:chart xmlns:c="http://schemas.openxmlformats.org/drawingml/2006/chart" r:id="rId2"/>
          </a:graphicData>
        </a:graphic>
      </p:graphicFrame>
      <p:sp>
        <p:nvSpPr>
          <p:cNvPr id="13" name="TextBox 12"/>
          <p:cNvSpPr txBox="1"/>
          <p:nvPr/>
        </p:nvSpPr>
        <p:spPr>
          <a:xfrm>
            <a:off x="6355080" y="5897880"/>
            <a:ext cx="5285232" cy="228600"/>
          </a:xfrm>
          <a:prstGeom prst="rect">
            <a:avLst/>
          </a:prstGeom>
          <a:noFill/>
        </p:spPr>
        <p:txBody>
          <a:bodyPr wrap="square" lIns="0" rIns="0" tIns="0" bIns="0" anchor="t">
            <a:spAutoFit/>
          </a:bodyPr>
          <a:lstStyle/>
          <a:p>
            <a:pPr algn="l">
              <a:spcBef>
                <a:spcPts val="0"/>
              </a:spcBef>
              <a:spcAft>
                <a:spcPts val="0"/>
              </a:spcAft>
            </a:pPr>
            <a:r>
              <a:rPr sz="950" b="0" i="0">
                <a:solidFill>
                  <a:srgbClr val="9AA0C3"/>
                </a:solidFill>
                <a:latin typeface="Calibri"/>
              </a:rPr>
              <a:t>Day-7 retention by cohort week. Source: retention.csv</a:t>
            </a:r>
          </a:p>
        </p:txBody>
      </p:sp>
      <p:sp>
        <p:nvSpPr>
          <p:cNvPr id="14" name="TextBox 13"/>
          <p:cNvSpPr txBox="1"/>
          <p:nvPr/>
        </p:nvSpPr>
        <p:spPr>
          <a:xfrm>
            <a:off x="548640" y="6419088"/>
            <a:ext cx="8229600" cy="274320"/>
          </a:xfrm>
          <a:prstGeom prst="rect">
            <a:avLst/>
          </a:prstGeom>
          <a:noFill/>
        </p:spPr>
        <p:txBody>
          <a:bodyPr wrap="square" lIns="0" rIns="0" tIns="0" bIns="0" anchor="t">
            <a:spAutoFit/>
          </a:bodyPr>
          <a:lstStyle/>
          <a:p>
            <a:pPr algn="l">
              <a:spcBef>
                <a:spcPts val="0"/>
              </a:spcBef>
              <a:spcAft>
                <a:spcPts val="0"/>
              </a:spcAft>
            </a:pPr>
            <a:r>
              <a:rPr sz="900" b="0" i="0">
                <a:solidFill>
                  <a:srgbClr val="9AA0C3"/>
                </a:solidFill>
                <a:latin typeface="Calibri"/>
              </a:rPr>
              <a:t>Comeback Screen  ·  Quarterly Review  ·  2026-10-02</a:t>
            </a:r>
          </a:p>
        </p:txBody>
      </p:sp>
      <p:sp>
        <p:nvSpPr>
          <p:cNvPr id="15" name="TextBox 14"/>
          <p:cNvSpPr txBox="1"/>
          <p:nvPr/>
        </p:nvSpPr>
        <p:spPr>
          <a:xfrm>
            <a:off x="10515600" y="6419088"/>
            <a:ext cx="1124712" cy="274320"/>
          </a:xfrm>
          <a:prstGeom prst="rect">
            <a:avLst/>
          </a:prstGeom>
          <a:noFill/>
        </p:spPr>
        <p:txBody>
          <a:bodyPr wrap="square" lIns="0" rIns="0" tIns="0" bIns="0" anchor="t">
            <a:spAutoFit/>
          </a:bodyPr>
          <a:lstStyle/>
          <a:p>
            <a:pPr algn="r">
              <a:spcBef>
                <a:spcPts val="0"/>
              </a:spcBef>
              <a:spcAft>
                <a:spcPts val="0"/>
              </a:spcAft>
            </a:pPr>
            <a:r>
              <a:rPr sz="900" b="0" i="0">
                <a:solidFill>
                  <a:srgbClr val="9AA0C3"/>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48640"/>
            <a:ext cx="11064240" cy="822960"/>
          </a:xfrm>
          <a:prstGeom prst="rect">
            <a:avLst/>
          </a:prstGeom>
          <a:noFill/>
        </p:spPr>
        <p:txBody>
          <a:bodyPr wrap="square" lIns="0" rIns="0" tIns="0" bIns="0" anchor="t">
            <a:spAutoFit/>
          </a:bodyPr>
          <a:lstStyle/>
          <a:p>
            <a:pPr algn="l">
              <a:lnSpc>
                <a:spcPct val="100000"/>
              </a:lnSpc>
              <a:spcBef>
                <a:spcPts val="0"/>
              </a:spcBef>
              <a:spcAft>
                <a:spcPts val="0"/>
              </a:spcAft>
            </a:pPr>
            <a:r>
              <a:rPr sz="3400" b="1" i="0">
                <a:solidFill>
                  <a:srgbClr val="1A1C3A"/>
                </a:solidFill>
                <a:latin typeface="Cambria"/>
              </a:rPr>
              <a:t>We finally sized the problem, and it is not the one we scoped</a:t>
            </a:r>
          </a:p>
        </p:txBody>
      </p:sp>
      <p:sp>
        <p:nvSpPr>
          <p:cNvPr id="3" name="TextBox 2"/>
          <p:cNvSpPr txBox="1"/>
          <p:nvPr/>
        </p:nvSpPr>
        <p:spPr>
          <a:xfrm>
            <a:off x="548640" y="1371600"/>
            <a:ext cx="11064240" cy="274320"/>
          </a:xfrm>
          <a:prstGeom prst="rect">
            <a:avLst/>
          </a:prstGeom>
          <a:noFill/>
        </p:spPr>
        <p:txBody>
          <a:bodyPr wrap="square" lIns="0" rIns="0" tIns="0" bIns="0" anchor="t">
            <a:spAutoFit/>
          </a:bodyPr>
          <a:lstStyle/>
          <a:p>
            <a:pPr algn="l">
              <a:spcBef>
                <a:spcPts val="0"/>
              </a:spcBef>
              <a:spcAft>
                <a:spcPts val="0"/>
              </a:spcAft>
            </a:pPr>
            <a:r>
              <a:rPr sz="1300" b="1" i="0">
                <a:solidFill>
                  <a:srgbClr val="5E637A"/>
                </a:solidFill>
                <a:latin typeface="Calibri"/>
              </a:rPr>
              <a:t>The funnel number you have asked for twice</a:t>
            </a:r>
          </a:p>
        </p:txBody>
      </p:sp>
      <p:sp>
        <p:nvSpPr>
          <p:cNvPr id="4" name="TextBox 3"/>
          <p:cNvSpPr txBox="1"/>
          <p:nvPr/>
        </p:nvSpPr>
        <p:spPr>
          <a:xfrm>
            <a:off x="548640" y="1847088"/>
            <a:ext cx="3200400" cy="1207008"/>
          </a:xfrm>
          <a:prstGeom prst="rect">
            <a:avLst/>
          </a:prstGeom>
          <a:noFill/>
        </p:spPr>
        <p:txBody>
          <a:bodyPr wrap="square" lIns="0" rIns="0" tIns="0" bIns="0" anchor="t">
            <a:spAutoFit/>
          </a:bodyPr>
          <a:lstStyle/>
          <a:p>
            <a:pPr algn="l">
              <a:spcBef>
                <a:spcPts val="0"/>
              </a:spcBef>
              <a:spcAft>
                <a:spcPts val="0"/>
              </a:spcAft>
            </a:pPr>
            <a:r>
              <a:rPr sz="7600" b="1" i="0">
                <a:solidFill>
                  <a:srgbClr val="FF6B5B"/>
                </a:solidFill>
                <a:latin typeface="Cambria"/>
              </a:rPr>
              <a:t>55%</a:t>
            </a:r>
          </a:p>
        </p:txBody>
      </p:sp>
      <p:sp>
        <p:nvSpPr>
          <p:cNvPr id="5" name="TextBox 4"/>
          <p:cNvSpPr txBox="1"/>
          <p:nvPr/>
        </p:nvSpPr>
        <p:spPr>
          <a:xfrm>
            <a:off x="548640" y="3108960"/>
            <a:ext cx="3200400" cy="731520"/>
          </a:xfrm>
          <a:prstGeom prst="rect">
            <a:avLst/>
          </a:prstGeom>
          <a:noFill/>
        </p:spPr>
        <p:txBody>
          <a:bodyPr wrap="square" lIns="0" rIns="0" tIns="0" bIns="0" anchor="t">
            <a:spAutoFit/>
          </a:bodyPr>
          <a:lstStyle/>
          <a:p>
            <a:pPr algn="l">
              <a:lnSpc>
                <a:spcPct val="120000"/>
              </a:lnSpc>
              <a:spcBef>
                <a:spcPts val="0"/>
              </a:spcBef>
              <a:spcAft>
                <a:spcPts val="0"/>
              </a:spcAft>
            </a:pPr>
            <a:r>
              <a:rPr sz="1600" b="1" i="0">
                <a:solidFill>
                  <a:srgbClr val="1A1C3A"/>
                </a:solidFill>
                <a:latin typeface="Calibri"/>
              </a:rPr>
              <a:t>of Day-7 churn never broke a streak</a:t>
            </a:r>
          </a:p>
        </p:txBody>
      </p:sp>
      <p:sp>
        <p:nvSpPr>
          <p:cNvPr id="6" name="TextBox 5"/>
          <p:cNvSpPr txBox="1"/>
          <p:nvPr/>
        </p:nvSpPr>
        <p:spPr>
          <a:xfrm>
            <a:off x="548640" y="3913632"/>
            <a:ext cx="3200400" cy="822960"/>
          </a:xfrm>
          <a:prstGeom prst="rect">
            <a:avLst/>
          </a:prstGeom>
          <a:noFill/>
        </p:spPr>
        <p:txBody>
          <a:bodyPr wrap="square" lIns="0" rIns="0" tIns="0" bIns="0" anchor="t">
            <a:spAutoFit/>
          </a:bodyPr>
          <a:lstStyle/>
          <a:p>
            <a:pPr algn="l">
              <a:lnSpc>
                <a:spcPct val="130000"/>
              </a:lnSpc>
              <a:spcBef>
                <a:spcPts val="0"/>
              </a:spcBef>
              <a:spcAft>
                <a:spcPts val="0"/>
              </a:spcAft>
            </a:pPr>
            <a:r>
              <a:rPr sz="1300" b="0" i="0">
                <a:solidFill>
                  <a:srgbClr val="5E637A"/>
                </a:solidFill>
                <a:latin typeface="Calibri"/>
              </a:rPr>
              <a:t>168 of the 307 users who failed Day-7 had an intact streak the whole time.</a:t>
            </a:r>
          </a:p>
        </p:txBody>
      </p:sp>
      <p:sp>
        <p:nvSpPr>
          <p:cNvPr id="7" name="Rounded Rectangle 6"/>
          <p:cNvSpPr/>
          <p:nvPr/>
        </p:nvSpPr>
        <p:spPr>
          <a:xfrm>
            <a:off x="4069080" y="1874519"/>
            <a:ext cx="7571231" cy="1389888"/>
          </a:xfrm>
          <a:prstGeom prst="roundRect">
            <a:avLst>
              <a:gd name="adj" fmla="val 4500"/>
            </a:avLst>
          </a:prstGeom>
          <a:solidFill>
            <a:srgbClr val="F2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370832" y="2130552"/>
            <a:ext cx="155448" cy="155448"/>
          </a:xfrm>
          <a:prstGeom prst="ellipse">
            <a:avLst/>
          </a:prstGeom>
          <a:solidFill>
            <a:srgbClr val="3FB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5152" y="2093976"/>
            <a:ext cx="6675120" cy="228600"/>
          </a:xfrm>
          <a:prstGeom prst="rect">
            <a:avLst/>
          </a:prstGeom>
          <a:noFill/>
        </p:spPr>
        <p:txBody>
          <a:bodyPr wrap="square" lIns="0" rIns="0" tIns="0" bIns="0" anchor="t">
            <a:spAutoFit/>
          </a:bodyPr>
          <a:lstStyle/>
          <a:p>
            <a:pPr algn="l">
              <a:spcBef>
                <a:spcPts val="0"/>
              </a:spcBef>
              <a:spcAft>
                <a:spcPts val="0"/>
              </a:spcAft>
            </a:pPr>
            <a:r>
              <a:rPr sz="1050" b="1" i="0">
                <a:solidFill>
                  <a:srgbClr val="1A1C3A"/>
                </a:solidFill>
                <a:latin typeface="Calibri"/>
              </a:rPr>
              <a:t>THE SEGMENT IS REAL</a:t>
            </a:r>
          </a:p>
        </p:txBody>
      </p:sp>
      <p:sp>
        <p:nvSpPr>
          <p:cNvPr id="10" name="TextBox 9"/>
          <p:cNvSpPr txBox="1"/>
          <p:nvPr/>
        </p:nvSpPr>
        <p:spPr>
          <a:xfrm>
            <a:off x="4370832" y="2432304"/>
            <a:ext cx="6949440" cy="685800"/>
          </a:xfrm>
          <a:prstGeom prst="rect">
            <a:avLst/>
          </a:prstGeom>
          <a:noFill/>
        </p:spPr>
        <p:txBody>
          <a:bodyPr wrap="square" lIns="0" rIns="0" tIns="0" bIns="0" anchor="t">
            <a:spAutoFit/>
          </a:bodyPr>
          <a:lstStyle/>
          <a:p>
            <a:pPr algn="l">
              <a:lnSpc>
                <a:spcPct val="130000"/>
              </a:lnSpc>
              <a:spcBef>
                <a:spcPts val="0"/>
              </a:spcBef>
              <a:spcAft>
                <a:spcPts val="0"/>
              </a:spcAft>
            </a:pPr>
            <a:r>
              <a:rPr sz="1400" b="0" i="0">
                <a:solidFill>
                  <a:srgbClr val="1A1C3A"/>
                </a:solidFill>
                <a:latin typeface="Calibri"/>
              </a:rPr>
              <a:t>190 users, 38% of the base, retaining at 26.8% against 45.8% for everyone else. A 19-point gap, </a:t>
            </a:r>
            <a:r>
              <a:rPr sz="1400" b="1" i="0">
                <a:solidFill>
                  <a:srgbClr val="1A1C3A"/>
                </a:solidFill>
                <a:latin typeface="Calibri"/>
              </a:rPr>
              <a:t>p &lt; 0.0001</a:t>
            </a:r>
            <a:r>
              <a:rPr sz="1400" b="0" i="0">
                <a:solidFill>
                  <a:srgbClr val="1A1C3A"/>
                </a:solidFill>
                <a:latin typeface="Calibri"/>
              </a:rPr>
              <a:t>.</a:t>
            </a:r>
          </a:p>
        </p:txBody>
      </p:sp>
      <p:sp>
        <p:nvSpPr>
          <p:cNvPr id="11" name="Rounded Rectangle 10"/>
          <p:cNvSpPr/>
          <p:nvPr/>
        </p:nvSpPr>
        <p:spPr>
          <a:xfrm>
            <a:off x="4069080" y="3429000"/>
            <a:ext cx="7571231" cy="1389888"/>
          </a:xfrm>
          <a:prstGeom prst="roundRect">
            <a:avLst>
              <a:gd name="adj" fmla="val 4500"/>
            </a:avLst>
          </a:prstGeom>
          <a:solidFill>
            <a:srgbClr val="F2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370832" y="3685032"/>
            <a:ext cx="155448" cy="155448"/>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5152" y="3648456"/>
            <a:ext cx="6675120" cy="228600"/>
          </a:xfrm>
          <a:prstGeom prst="rect">
            <a:avLst/>
          </a:prstGeom>
          <a:noFill/>
        </p:spPr>
        <p:txBody>
          <a:bodyPr wrap="square" lIns="0" rIns="0" tIns="0" bIns="0" anchor="t">
            <a:spAutoFit/>
          </a:bodyPr>
          <a:lstStyle/>
          <a:p>
            <a:pPr algn="l">
              <a:spcBef>
                <a:spcPts val="0"/>
              </a:spcBef>
              <a:spcAft>
                <a:spcPts val="0"/>
              </a:spcAft>
            </a:pPr>
            <a:r>
              <a:rPr sz="1050" b="1" i="0">
                <a:solidFill>
                  <a:srgbClr val="1A1C3A"/>
                </a:solidFill>
                <a:latin typeface="Calibri"/>
              </a:rPr>
              <a:t>BUT IT IS NOT THE MAJORITY</a:t>
            </a:r>
          </a:p>
        </p:txBody>
      </p:sp>
      <p:sp>
        <p:nvSpPr>
          <p:cNvPr id="14" name="TextBox 13"/>
          <p:cNvSpPr txBox="1"/>
          <p:nvPr/>
        </p:nvSpPr>
        <p:spPr>
          <a:xfrm>
            <a:off x="4370832" y="3986784"/>
            <a:ext cx="6949440" cy="685800"/>
          </a:xfrm>
          <a:prstGeom prst="rect">
            <a:avLst/>
          </a:prstGeom>
          <a:noFill/>
        </p:spPr>
        <p:txBody>
          <a:bodyPr wrap="square" lIns="0" rIns="0" tIns="0" bIns="0" anchor="t">
            <a:spAutoFit/>
          </a:bodyPr>
          <a:lstStyle/>
          <a:p>
            <a:pPr algn="l">
              <a:lnSpc>
                <a:spcPct val="130000"/>
              </a:lnSpc>
              <a:spcBef>
                <a:spcPts val="0"/>
              </a:spcBef>
              <a:spcAft>
                <a:spcPts val="0"/>
              </a:spcAft>
            </a:pPr>
            <a:r>
              <a:rPr sz="1400" b="0" i="0">
                <a:solidFill>
                  <a:srgbClr val="1A1C3A"/>
                </a:solidFill>
                <a:latin typeface="Calibri"/>
              </a:rPr>
              <a:t>The lost-streak moment is worth </a:t>
            </a:r>
            <a:r>
              <a:rPr sz="1400" b="1" i="0">
                <a:solidFill>
                  <a:srgbClr val="1A1C3A"/>
                </a:solidFill>
                <a:latin typeface="Calibri"/>
              </a:rPr>
              <a:t>at most 7.2 points of the 9.4-point gap</a:t>
            </a:r>
            <a:r>
              <a:rPr sz="1400" b="0" i="0">
                <a:solidFill>
                  <a:srgbClr val="1A1C3A"/>
                </a:solidFill>
                <a:latin typeface="Calibri"/>
              </a:rPr>
              <a:t>. Real, and not the bulk of the problem.</a:t>
            </a:r>
          </a:p>
        </p:txBody>
      </p:sp>
      <p:sp>
        <p:nvSpPr>
          <p:cNvPr id="15" name="Rounded Rectangle 14"/>
          <p:cNvSpPr/>
          <p:nvPr/>
        </p:nvSpPr>
        <p:spPr>
          <a:xfrm>
            <a:off x="548640" y="5047488"/>
            <a:ext cx="11091672" cy="1143000"/>
          </a:xfrm>
          <a:prstGeom prst="roundRect">
            <a:avLst>
              <a:gd name="adj" fmla="val 4500"/>
            </a:avLst>
          </a:prstGeom>
          <a:solidFill>
            <a:srgbClr val="1A1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41248" y="5303520"/>
            <a:ext cx="155448" cy="155448"/>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 y="5266944"/>
            <a:ext cx="9601200" cy="228600"/>
          </a:xfrm>
          <a:prstGeom prst="rect">
            <a:avLst/>
          </a:prstGeom>
          <a:noFill/>
        </p:spPr>
        <p:txBody>
          <a:bodyPr wrap="square" lIns="0" rIns="0" tIns="0" bIns="0" anchor="t">
            <a:spAutoFit/>
          </a:bodyPr>
          <a:lstStyle/>
          <a:p>
            <a:pPr algn="l">
              <a:spcBef>
                <a:spcPts val="0"/>
              </a:spcBef>
              <a:spcAft>
                <a:spcPts val="0"/>
              </a:spcAft>
            </a:pPr>
            <a:r>
              <a:rPr sz="1050" b="1" i="0">
                <a:solidFill>
                  <a:srgbClr val="FF6B5B"/>
                </a:solidFill>
                <a:latin typeface="Calibri"/>
              </a:rPr>
              <a:t>WHAT WE LEARNED</a:t>
            </a:r>
          </a:p>
        </p:txBody>
      </p:sp>
      <p:sp>
        <p:nvSpPr>
          <p:cNvPr id="18" name="TextBox 17"/>
          <p:cNvSpPr txBox="1"/>
          <p:nvPr/>
        </p:nvSpPr>
        <p:spPr>
          <a:xfrm>
            <a:off x="841248" y="5596128"/>
            <a:ext cx="10515600" cy="502920"/>
          </a:xfrm>
          <a:prstGeom prst="rect">
            <a:avLst/>
          </a:prstGeom>
          <a:noFill/>
        </p:spPr>
        <p:txBody>
          <a:bodyPr wrap="square" lIns="0" rIns="0" tIns="0" bIns="0" anchor="t">
            <a:spAutoFit/>
          </a:bodyPr>
          <a:lstStyle/>
          <a:p>
            <a:pPr algn="l">
              <a:lnSpc>
                <a:spcPct val="125000"/>
              </a:lnSpc>
              <a:spcBef>
                <a:spcPts val="0"/>
              </a:spcBef>
              <a:spcAft>
                <a:spcPts val="0"/>
              </a:spcAft>
            </a:pPr>
            <a:r>
              <a:rPr sz="1350" b="0" i="0">
                <a:solidFill>
                  <a:srgbClr val="FFFFFF"/>
                </a:solidFill>
                <a:latin typeface="Calibri"/>
              </a:rPr>
              <a:t>The rationale we scoped this project on was directionally right and materially incomplete — we were two weeks from committing a sprint to the smaller half. Cost of waiting in users: </a:t>
            </a:r>
            <a:r>
              <a:rPr sz="1350" b="1" i="0">
                <a:solidFill>
                  <a:srgbClr val="FFC145"/>
                </a:solidFill>
                <a:latin typeface="Calibri"/>
              </a:rPr>
              <a:t>TBD</a:t>
            </a:r>
            <a:r>
              <a:rPr sz="1350" b="0" i="0">
                <a:solidFill>
                  <a:srgbClr val="FFFFFF"/>
                </a:solidFill>
                <a:latin typeface="Calibri"/>
              </a:rPr>
              <a:t>, one number from growth, available Thursday.</a:t>
            </a:r>
          </a:p>
        </p:txBody>
      </p:sp>
      <p:sp>
        <p:nvSpPr>
          <p:cNvPr id="19" name="TextBox 18"/>
          <p:cNvSpPr txBox="1"/>
          <p:nvPr/>
        </p:nvSpPr>
        <p:spPr>
          <a:xfrm>
            <a:off x="548640" y="6419088"/>
            <a:ext cx="8229600" cy="274320"/>
          </a:xfrm>
          <a:prstGeom prst="rect">
            <a:avLst/>
          </a:prstGeom>
          <a:noFill/>
        </p:spPr>
        <p:txBody>
          <a:bodyPr wrap="square" lIns="0" rIns="0" tIns="0" bIns="0" anchor="t">
            <a:spAutoFit/>
          </a:bodyPr>
          <a:lstStyle/>
          <a:p>
            <a:pPr algn="l">
              <a:spcBef>
                <a:spcPts val="0"/>
              </a:spcBef>
              <a:spcAft>
                <a:spcPts val="0"/>
              </a:spcAft>
            </a:pPr>
            <a:r>
              <a:rPr sz="900" b="0" i="0">
                <a:solidFill>
                  <a:srgbClr val="5E637A"/>
                </a:solidFill>
                <a:latin typeface="Calibri"/>
              </a:rPr>
              <a:t>Comeback Screen  ·  Quarterly Review  ·  2026-10-02</a:t>
            </a:r>
          </a:p>
        </p:txBody>
      </p:sp>
      <p:sp>
        <p:nvSpPr>
          <p:cNvPr id="20" name="TextBox 19"/>
          <p:cNvSpPr txBox="1"/>
          <p:nvPr/>
        </p:nvSpPr>
        <p:spPr>
          <a:xfrm>
            <a:off x="10515600" y="6419088"/>
            <a:ext cx="1124712" cy="274320"/>
          </a:xfrm>
          <a:prstGeom prst="rect">
            <a:avLst/>
          </a:prstGeom>
          <a:noFill/>
        </p:spPr>
        <p:txBody>
          <a:bodyPr wrap="square" lIns="0" rIns="0" tIns="0" bIns="0" anchor="t">
            <a:spAutoFit/>
          </a:bodyPr>
          <a:lstStyle/>
          <a:p>
            <a:pPr algn="r">
              <a:spcBef>
                <a:spcPts val="0"/>
              </a:spcBef>
              <a:spcAft>
                <a:spcPts val="0"/>
              </a:spcAft>
            </a:pPr>
            <a:r>
              <a:rPr sz="900" b="0" i="0">
                <a:solidFill>
                  <a:srgbClr val="5E637A"/>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48640"/>
            <a:ext cx="11064240" cy="868680"/>
          </a:xfrm>
          <a:prstGeom prst="rect">
            <a:avLst/>
          </a:prstGeom>
          <a:noFill/>
        </p:spPr>
        <p:txBody>
          <a:bodyPr wrap="square" lIns="0" rIns="0" tIns="0" bIns="0" anchor="t">
            <a:spAutoFit/>
          </a:bodyPr>
          <a:lstStyle/>
          <a:p>
            <a:pPr algn="l">
              <a:lnSpc>
                <a:spcPct val="100000"/>
              </a:lnSpc>
              <a:spcBef>
                <a:spcPts val="0"/>
              </a:spcBef>
              <a:spcAft>
                <a:spcPts val="0"/>
              </a:spcAft>
            </a:pPr>
            <a:r>
              <a:rPr sz="3100" b="1" i="0">
                <a:solidFill>
                  <a:srgbClr val="1A1C3A"/>
                </a:solidFill>
                <a:latin typeface="Cambria"/>
              </a:rPr>
              <a:t>A free, non-punitive comeback flow — re-scoped around the segment the data supports</a:t>
            </a:r>
          </a:p>
        </p:txBody>
      </p:sp>
      <p:sp>
        <p:nvSpPr>
          <p:cNvPr id="3" name="Rounded Rectangle 2"/>
          <p:cNvSpPr/>
          <p:nvPr/>
        </p:nvSpPr>
        <p:spPr>
          <a:xfrm>
            <a:off x="548640" y="1627632"/>
            <a:ext cx="5413248" cy="4526280"/>
          </a:xfrm>
          <a:prstGeom prst="roundRect">
            <a:avLst>
              <a:gd name="adj" fmla="val 4500"/>
            </a:avLst>
          </a:prstGeom>
          <a:solidFill>
            <a:srgbClr val="F2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68680" y="1920240"/>
            <a:ext cx="173736" cy="173736"/>
          </a:xfrm>
          <a:prstGeom prst="ellipse">
            <a:avLst/>
          </a:prstGeom>
          <a:solidFill>
            <a:srgbClr val="3FB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883664"/>
            <a:ext cx="4480560" cy="274320"/>
          </a:xfrm>
          <a:prstGeom prst="rect">
            <a:avLst/>
          </a:prstGeom>
          <a:noFill/>
        </p:spPr>
        <p:txBody>
          <a:bodyPr wrap="square" lIns="0" rIns="0" tIns="0" bIns="0" anchor="t">
            <a:spAutoFit/>
          </a:bodyPr>
          <a:lstStyle/>
          <a:p>
            <a:pPr algn="l">
              <a:spcBef>
                <a:spcPts val="0"/>
              </a:spcBef>
              <a:spcAft>
                <a:spcPts val="0"/>
              </a:spcAft>
            </a:pPr>
            <a:r>
              <a:rPr sz="1200" b="1" i="0">
                <a:solidFill>
                  <a:srgbClr val="1A1C3A"/>
                </a:solidFill>
                <a:latin typeface="Calibri"/>
              </a:rPr>
              <a:t>WHAT IT IS</a:t>
            </a:r>
          </a:p>
        </p:txBody>
      </p:sp>
      <p:sp>
        <p:nvSpPr>
          <p:cNvPr id="6" name="Oval 5"/>
          <p:cNvSpPr/>
          <p:nvPr/>
        </p:nvSpPr>
        <p:spPr>
          <a:xfrm>
            <a:off x="886968" y="2404872"/>
            <a:ext cx="118872" cy="118872"/>
          </a:xfrm>
          <a:prstGeom prst="ellipse">
            <a:avLst/>
          </a:prstGeom>
          <a:solidFill>
            <a:srgbClr val="3FB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432" y="2340864"/>
            <a:ext cx="4526280" cy="256032"/>
          </a:xfrm>
          <a:prstGeom prst="rect">
            <a:avLst/>
          </a:prstGeom>
          <a:noFill/>
        </p:spPr>
        <p:txBody>
          <a:bodyPr wrap="square" lIns="0" rIns="0" tIns="0" bIns="0" anchor="t">
            <a:spAutoFit/>
          </a:bodyPr>
          <a:lstStyle/>
          <a:p>
            <a:pPr algn="l">
              <a:spcBef>
                <a:spcPts val="0"/>
              </a:spcBef>
              <a:spcAft>
                <a:spcPts val="0"/>
              </a:spcAft>
            </a:pPr>
            <a:r>
              <a:rPr sz="1450" b="1" i="0">
                <a:solidFill>
                  <a:srgbClr val="1A1C3A"/>
                </a:solidFill>
                <a:latin typeface="Calibri"/>
              </a:rPr>
              <a:t>One free tap back</a:t>
            </a:r>
          </a:p>
        </p:txBody>
      </p:sp>
      <p:sp>
        <p:nvSpPr>
          <p:cNvPr id="8" name="TextBox 7"/>
          <p:cNvSpPr txBox="1"/>
          <p:nvPr/>
        </p:nvSpPr>
        <p:spPr>
          <a:xfrm>
            <a:off x="1170432" y="2660904"/>
            <a:ext cx="4526280" cy="868680"/>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5E637A"/>
                </a:solidFill>
                <a:latin typeface="Calibri"/>
              </a:rPr>
              <a:t>A one-tap path back to a prior streak count, earned by a 60-second lesson, with copy that coaches instead of scolds.</a:t>
            </a:r>
          </a:p>
        </p:txBody>
      </p:sp>
      <p:sp>
        <p:nvSpPr>
          <p:cNvPr id="9" name="Oval 8"/>
          <p:cNvSpPr/>
          <p:nvPr/>
        </p:nvSpPr>
        <p:spPr>
          <a:xfrm>
            <a:off x="886968" y="3703320"/>
            <a:ext cx="118872" cy="118872"/>
          </a:xfrm>
          <a:prstGeom prst="ellipse">
            <a:avLst/>
          </a:prstGeom>
          <a:solidFill>
            <a:srgbClr val="3FB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0432" y="3639312"/>
            <a:ext cx="4526280" cy="256032"/>
          </a:xfrm>
          <a:prstGeom prst="rect">
            <a:avLst/>
          </a:prstGeom>
          <a:noFill/>
        </p:spPr>
        <p:txBody>
          <a:bodyPr wrap="square" lIns="0" rIns="0" tIns="0" bIns="0" anchor="t">
            <a:spAutoFit/>
          </a:bodyPr>
          <a:lstStyle/>
          <a:p>
            <a:pPr algn="l">
              <a:spcBef>
                <a:spcPts val="0"/>
              </a:spcBef>
              <a:spcAft>
                <a:spcPts val="0"/>
              </a:spcAft>
            </a:pPr>
            <a:r>
              <a:rPr sz="1450" b="1" i="0">
                <a:solidFill>
                  <a:srgbClr val="1A1C3A"/>
                </a:solidFill>
                <a:latin typeface="Calibri"/>
              </a:rPr>
              <a:t>Pointed at intact streaks first</a:t>
            </a:r>
          </a:p>
        </p:txBody>
      </p:sp>
      <p:sp>
        <p:nvSpPr>
          <p:cNvPr id="11" name="TextBox 10"/>
          <p:cNvSpPr txBox="1"/>
          <p:nvPr/>
        </p:nvSpPr>
        <p:spPr>
          <a:xfrm>
            <a:off x="1170432" y="3959352"/>
            <a:ext cx="4526280" cy="868680"/>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5E637A"/>
                </a:solidFill>
                <a:latin typeface="Calibri"/>
              </a:rPr>
              <a:t>62% of users, and the only statistically significant result we have: 93% vs 64%, p=0.007.</a:t>
            </a:r>
          </a:p>
        </p:txBody>
      </p:sp>
      <p:sp>
        <p:nvSpPr>
          <p:cNvPr id="12" name="Oval 11"/>
          <p:cNvSpPr/>
          <p:nvPr/>
        </p:nvSpPr>
        <p:spPr>
          <a:xfrm>
            <a:off x="886968" y="5001768"/>
            <a:ext cx="118872" cy="118872"/>
          </a:xfrm>
          <a:prstGeom prst="ellipse">
            <a:avLst/>
          </a:prstGeom>
          <a:solidFill>
            <a:srgbClr val="3FB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70432" y="4937760"/>
            <a:ext cx="4526280" cy="256032"/>
          </a:xfrm>
          <a:prstGeom prst="rect">
            <a:avLst/>
          </a:prstGeom>
          <a:noFill/>
        </p:spPr>
        <p:txBody>
          <a:bodyPr wrap="square" lIns="0" rIns="0" tIns="0" bIns="0" anchor="t">
            <a:spAutoFit/>
          </a:bodyPr>
          <a:lstStyle/>
          <a:p>
            <a:pPr algn="l">
              <a:spcBef>
                <a:spcPts val="0"/>
              </a:spcBef>
              <a:spcAft>
                <a:spcPts val="0"/>
              </a:spcAft>
            </a:pPr>
            <a:r>
              <a:rPr sz="1450" b="1" i="0">
                <a:solidFill>
                  <a:srgbClr val="1A1C3A"/>
                </a:solidFill>
                <a:latin typeface="Calibri"/>
              </a:rPr>
              <a:t>Unclaimed competitively</a:t>
            </a:r>
          </a:p>
        </p:txBody>
      </p:sp>
      <p:sp>
        <p:nvSpPr>
          <p:cNvPr id="14" name="TextBox 13"/>
          <p:cNvSpPr txBox="1"/>
          <p:nvPr/>
        </p:nvSpPr>
        <p:spPr>
          <a:xfrm>
            <a:off x="1170432" y="5257800"/>
            <a:ext cx="4526280" cy="868680"/>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5E637A"/>
                </a:solidFill>
                <a:latin typeface="Calibri"/>
              </a:rPr>
              <a:t>Duolingo paywalls freeze and repair. Babbel sidesteps streaks. Elevate, Streaks and Habitica offer no real recovery.</a:t>
            </a:r>
          </a:p>
        </p:txBody>
      </p:sp>
      <p:sp>
        <p:nvSpPr>
          <p:cNvPr id="15" name="Rounded Rectangle 14"/>
          <p:cNvSpPr/>
          <p:nvPr/>
        </p:nvSpPr>
        <p:spPr>
          <a:xfrm>
            <a:off x="6227064" y="1627632"/>
            <a:ext cx="5413248" cy="4526280"/>
          </a:xfrm>
          <a:prstGeom prst="roundRect">
            <a:avLst>
              <a:gd name="adj" fmla="val 4500"/>
            </a:avLst>
          </a:prstGeom>
          <a:solidFill>
            <a:srgbClr val="F2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547104" y="1920240"/>
            <a:ext cx="173736" cy="173736"/>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48856" y="1883664"/>
            <a:ext cx="4480560" cy="274320"/>
          </a:xfrm>
          <a:prstGeom prst="rect">
            <a:avLst/>
          </a:prstGeom>
          <a:noFill/>
        </p:spPr>
        <p:txBody>
          <a:bodyPr wrap="square" lIns="0" rIns="0" tIns="0" bIns="0" anchor="t">
            <a:spAutoFit/>
          </a:bodyPr>
          <a:lstStyle/>
          <a:p>
            <a:pPr algn="l">
              <a:spcBef>
                <a:spcPts val="0"/>
              </a:spcBef>
              <a:spcAft>
                <a:spcPts val="0"/>
              </a:spcAft>
            </a:pPr>
            <a:r>
              <a:rPr sz="1200" b="1" i="0">
                <a:solidFill>
                  <a:srgbClr val="1A1C3A"/>
                </a:solidFill>
                <a:latin typeface="Calibri"/>
              </a:rPr>
              <a:t>WHAT IT IS NOT</a:t>
            </a:r>
          </a:p>
        </p:txBody>
      </p:sp>
      <p:sp>
        <p:nvSpPr>
          <p:cNvPr id="18" name="Oval 17"/>
          <p:cNvSpPr/>
          <p:nvPr/>
        </p:nvSpPr>
        <p:spPr>
          <a:xfrm>
            <a:off x="6565392" y="2404872"/>
            <a:ext cx="118872" cy="118872"/>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48856" y="2340864"/>
            <a:ext cx="4526280" cy="256032"/>
          </a:xfrm>
          <a:prstGeom prst="rect">
            <a:avLst/>
          </a:prstGeom>
          <a:noFill/>
        </p:spPr>
        <p:txBody>
          <a:bodyPr wrap="square" lIns="0" rIns="0" tIns="0" bIns="0" anchor="t">
            <a:spAutoFit/>
          </a:bodyPr>
          <a:lstStyle/>
          <a:p>
            <a:pPr algn="l">
              <a:spcBef>
                <a:spcPts val="0"/>
              </a:spcBef>
              <a:spcAft>
                <a:spcPts val="0"/>
              </a:spcAft>
            </a:pPr>
            <a:r>
              <a:rPr sz="1450" b="1" i="0">
                <a:solidFill>
                  <a:srgbClr val="1A1C3A"/>
                </a:solidFill>
                <a:latin typeface="Calibri"/>
              </a:rPr>
              <a:t>Not the full thing you approved</a:t>
            </a:r>
          </a:p>
        </p:txBody>
      </p:sp>
      <p:sp>
        <p:nvSpPr>
          <p:cNvPr id="20" name="TextBox 19"/>
          <p:cNvSpPr txBox="1"/>
          <p:nvPr/>
        </p:nvSpPr>
        <p:spPr>
          <a:xfrm>
            <a:off x="6848856" y="2660904"/>
            <a:ext cx="4526280" cy="868680"/>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5E637A"/>
                </a:solidFill>
                <a:latin typeface="Calibri"/>
              </a:rPr>
              <a:t>You signed off on the recovery flow plus early pre-day-7 milestone moments plus a state-aware home screen. Only the recovery flow was built and tested.</a:t>
            </a:r>
          </a:p>
        </p:txBody>
      </p:sp>
      <p:sp>
        <p:nvSpPr>
          <p:cNvPr id="21" name="Oval 20"/>
          <p:cNvSpPr/>
          <p:nvPr/>
        </p:nvSpPr>
        <p:spPr>
          <a:xfrm>
            <a:off x="6565392" y="3703320"/>
            <a:ext cx="118872" cy="118872"/>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48856" y="3639312"/>
            <a:ext cx="4526280" cy="256032"/>
          </a:xfrm>
          <a:prstGeom prst="rect">
            <a:avLst/>
          </a:prstGeom>
          <a:noFill/>
        </p:spPr>
        <p:txBody>
          <a:bodyPr wrap="square" lIns="0" rIns="0" tIns="0" bIns="0" anchor="t">
            <a:spAutoFit/>
          </a:bodyPr>
          <a:lstStyle/>
          <a:p>
            <a:pPr algn="l">
              <a:spcBef>
                <a:spcPts val="0"/>
              </a:spcBef>
              <a:spcAft>
                <a:spcPts val="0"/>
              </a:spcAft>
            </a:pPr>
            <a:r>
              <a:rPr sz="1450" b="1" i="0">
                <a:solidFill>
                  <a:srgbClr val="1A1C3A"/>
                </a:solidFill>
                <a:latin typeface="Calibri"/>
              </a:rPr>
              <a:t>Not a long-term retention fix</a:t>
            </a:r>
          </a:p>
        </p:txBody>
      </p:sp>
      <p:sp>
        <p:nvSpPr>
          <p:cNvPr id="23" name="TextBox 22"/>
          <p:cNvSpPr txBox="1"/>
          <p:nvPr/>
        </p:nvSpPr>
        <p:spPr>
          <a:xfrm>
            <a:off x="6848856" y="3959352"/>
            <a:ext cx="4526280" cy="868680"/>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5E637A"/>
                </a:solidFill>
                <a:latin typeface="Calibri"/>
              </a:rPr>
              <a:t>Day-30 is 12.6% for breakers and non-breakers alike. This wins the first week. We should not promise more.</a:t>
            </a:r>
          </a:p>
        </p:txBody>
      </p:sp>
      <p:sp>
        <p:nvSpPr>
          <p:cNvPr id="24" name="Oval 23"/>
          <p:cNvSpPr/>
          <p:nvPr/>
        </p:nvSpPr>
        <p:spPr>
          <a:xfrm>
            <a:off x="6565392" y="5001768"/>
            <a:ext cx="118872" cy="118872"/>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48856" y="4937760"/>
            <a:ext cx="4526280" cy="256032"/>
          </a:xfrm>
          <a:prstGeom prst="rect">
            <a:avLst/>
          </a:prstGeom>
          <a:noFill/>
        </p:spPr>
        <p:txBody>
          <a:bodyPr wrap="square" lIns="0" rIns="0" tIns="0" bIns="0" anchor="t">
            <a:spAutoFit/>
          </a:bodyPr>
          <a:lstStyle/>
          <a:p>
            <a:pPr algn="l">
              <a:spcBef>
                <a:spcPts val="0"/>
              </a:spcBef>
              <a:spcAft>
                <a:spcPts val="0"/>
              </a:spcAft>
            </a:pPr>
            <a:r>
              <a:rPr sz="1450" b="1" i="0">
                <a:solidFill>
                  <a:srgbClr val="1A1C3A"/>
                </a:solidFill>
                <a:latin typeface="Calibri"/>
              </a:rPr>
              <a:t>Not settled internally</a:t>
            </a:r>
          </a:p>
        </p:txBody>
      </p:sp>
      <p:sp>
        <p:nvSpPr>
          <p:cNvPr id="26" name="TextBox 25"/>
          <p:cNvSpPr txBox="1"/>
          <p:nvPr/>
        </p:nvSpPr>
        <p:spPr>
          <a:xfrm>
            <a:off x="6848856" y="5257800"/>
            <a:ext cx="4526280" cy="868680"/>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5E637A"/>
                </a:solidFill>
                <a:latin typeface="Calibri"/>
              </a:rPr>
              <a:t>My metric analysis leads with streak-breakers; this memo leads with intact streaks. Decision 2 is where that gets ruled on.</a:t>
            </a:r>
          </a:p>
        </p:txBody>
      </p:sp>
      <p:sp>
        <p:nvSpPr>
          <p:cNvPr id="27" name="TextBox 26"/>
          <p:cNvSpPr txBox="1"/>
          <p:nvPr/>
        </p:nvSpPr>
        <p:spPr>
          <a:xfrm>
            <a:off x="548640" y="6419088"/>
            <a:ext cx="8229600" cy="274320"/>
          </a:xfrm>
          <a:prstGeom prst="rect">
            <a:avLst/>
          </a:prstGeom>
          <a:noFill/>
        </p:spPr>
        <p:txBody>
          <a:bodyPr wrap="square" lIns="0" rIns="0" tIns="0" bIns="0" anchor="t">
            <a:spAutoFit/>
          </a:bodyPr>
          <a:lstStyle/>
          <a:p>
            <a:pPr algn="l">
              <a:spcBef>
                <a:spcPts val="0"/>
              </a:spcBef>
              <a:spcAft>
                <a:spcPts val="0"/>
              </a:spcAft>
            </a:pPr>
            <a:r>
              <a:rPr sz="900" b="0" i="0">
                <a:solidFill>
                  <a:srgbClr val="5E637A"/>
                </a:solidFill>
                <a:latin typeface="Calibri"/>
              </a:rPr>
              <a:t>Comeback Screen  ·  Quarterly Review  ·  2026-10-02</a:t>
            </a:r>
          </a:p>
        </p:txBody>
      </p:sp>
      <p:sp>
        <p:nvSpPr>
          <p:cNvPr id="28" name="TextBox 27"/>
          <p:cNvSpPr txBox="1"/>
          <p:nvPr/>
        </p:nvSpPr>
        <p:spPr>
          <a:xfrm>
            <a:off x="10515600" y="6419088"/>
            <a:ext cx="1124712" cy="274320"/>
          </a:xfrm>
          <a:prstGeom prst="rect">
            <a:avLst/>
          </a:prstGeom>
          <a:noFill/>
        </p:spPr>
        <p:txBody>
          <a:bodyPr wrap="square" lIns="0" rIns="0" tIns="0" bIns="0" anchor="t">
            <a:spAutoFit/>
          </a:bodyPr>
          <a:lstStyle/>
          <a:p>
            <a:pPr algn="r">
              <a:spcBef>
                <a:spcPts val="0"/>
              </a:spcBef>
              <a:spcAft>
                <a:spcPts val="0"/>
              </a:spcAft>
            </a:pPr>
            <a:r>
              <a:rPr sz="900" b="0" i="0">
                <a:solidFill>
                  <a:srgbClr val="5E637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48640"/>
            <a:ext cx="11064240" cy="822960"/>
          </a:xfrm>
          <a:prstGeom prst="rect">
            <a:avLst/>
          </a:prstGeom>
          <a:noFill/>
        </p:spPr>
        <p:txBody>
          <a:bodyPr wrap="square" lIns="0" rIns="0" tIns="0" bIns="0" anchor="t">
            <a:spAutoFit/>
          </a:bodyPr>
          <a:lstStyle/>
          <a:p>
            <a:pPr algn="l">
              <a:lnSpc>
                <a:spcPct val="100000"/>
              </a:lnSpc>
              <a:spcBef>
                <a:spcPts val="0"/>
              </a:spcBef>
              <a:spcAft>
                <a:spcPts val="0"/>
              </a:spcAft>
            </a:pPr>
            <a:r>
              <a:rPr sz="3400" b="1" i="0">
                <a:solidFill>
                  <a:srgbClr val="1A1C3A"/>
                </a:solidFill>
                <a:latin typeface="Cambria"/>
              </a:rPr>
              <a:t>A real +30-point Day-7 lift — in the segment we were not aiming at</a:t>
            </a:r>
          </a:p>
        </p:txBody>
      </p:sp>
      <p:sp>
        <p:nvSpPr>
          <p:cNvPr id="3" name="TextBox 2"/>
          <p:cNvSpPr txBox="1"/>
          <p:nvPr/>
        </p:nvSpPr>
        <p:spPr>
          <a:xfrm>
            <a:off x="548640" y="1371600"/>
            <a:ext cx="11064240" cy="274320"/>
          </a:xfrm>
          <a:prstGeom prst="rect">
            <a:avLst/>
          </a:prstGeom>
          <a:noFill/>
        </p:spPr>
        <p:txBody>
          <a:bodyPr wrap="square" lIns="0" rIns="0" tIns="0" bIns="0" anchor="t">
            <a:spAutoFit/>
          </a:bodyPr>
          <a:lstStyle/>
          <a:p>
            <a:pPr algn="l">
              <a:spcBef>
                <a:spcPts val="0"/>
              </a:spcBef>
              <a:spcAft>
                <a:spcPts val="0"/>
              </a:spcAft>
            </a:pPr>
            <a:r>
              <a:rPr sz="1300" b="1" i="0">
                <a:solidFill>
                  <a:srgbClr val="5E637A"/>
                </a:solidFill>
                <a:latin typeface="Calibri"/>
              </a:rPr>
              <a:t>Week-5 cohort  ·  100 users  ·  50 comeback / 50 control</a:t>
            </a:r>
          </a:p>
        </p:txBody>
      </p:sp>
      <p:graphicFrame>
        <p:nvGraphicFramePr>
          <p:cNvPr id="4" name="Chart 3"/>
          <p:cNvGraphicFramePr>
            <a:graphicFrameLocks noGrp="1"/>
          </p:cNvGraphicFramePr>
          <p:nvPr/>
        </p:nvGraphicFramePr>
        <p:xfrm>
          <a:off x="548640" y="1828800"/>
          <a:ext cx="6903720" cy="3566160"/>
        </p:xfrm>
        <a:graphic>
          <a:graphicData uri="http://schemas.openxmlformats.org/drawingml/2006/chart">
            <c:chart xmlns:c="http://schemas.openxmlformats.org/drawingml/2006/chart" r:id="rId2"/>
          </a:graphicData>
        </a:graphic>
      </p:graphicFrame>
      <p:sp>
        <p:nvSpPr>
          <p:cNvPr id="5" name="Oval 4"/>
          <p:cNvSpPr/>
          <p:nvPr/>
        </p:nvSpPr>
        <p:spPr>
          <a:xfrm>
            <a:off x="566928" y="5504688"/>
            <a:ext cx="137160" cy="137160"/>
          </a:xfrm>
          <a:prstGeom prst="ellipse">
            <a:avLst/>
          </a:prstGeom>
          <a:solidFill>
            <a:srgbClr val="3FB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5477256"/>
            <a:ext cx="3108960" cy="228600"/>
          </a:xfrm>
          <a:prstGeom prst="rect">
            <a:avLst/>
          </a:prstGeom>
          <a:noFill/>
        </p:spPr>
        <p:txBody>
          <a:bodyPr wrap="square" lIns="0" rIns="0" tIns="0" bIns="0" anchor="t">
            <a:spAutoFit/>
          </a:bodyPr>
          <a:lstStyle/>
          <a:p>
            <a:pPr algn="l">
              <a:spcBef>
                <a:spcPts val="0"/>
              </a:spcBef>
              <a:spcAft>
                <a:spcPts val="0"/>
              </a:spcAft>
            </a:pPr>
            <a:r>
              <a:rPr sz="1100" b="0" i="0">
                <a:solidFill>
                  <a:srgbClr val="1A1C3A"/>
                </a:solidFill>
                <a:latin typeface="Calibri"/>
              </a:rPr>
              <a:t>Significant  (p=0.002, p=0.007)</a:t>
            </a:r>
          </a:p>
        </p:txBody>
      </p:sp>
      <p:sp>
        <p:nvSpPr>
          <p:cNvPr id="7" name="Oval 6"/>
          <p:cNvSpPr/>
          <p:nvPr/>
        </p:nvSpPr>
        <p:spPr>
          <a:xfrm>
            <a:off x="3977639" y="5504688"/>
            <a:ext cx="137160" cy="13716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15384" y="5477256"/>
            <a:ext cx="3200400" cy="228600"/>
          </a:xfrm>
          <a:prstGeom prst="rect">
            <a:avLst/>
          </a:prstGeom>
          <a:noFill/>
        </p:spPr>
        <p:txBody>
          <a:bodyPr wrap="square" lIns="0" rIns="0" tIns="0" bIns="0" anchor="t">
            <a:spAutoFit/>
          </a:bodyPr>
          <a:lstStyle/>
          <a:p>
            <a:pPr algn="l">
              <a:spcBef>
                <a:spcPts val="0"/>
              </a:spcBef>
              <a:spcAft>
                <a:spcPts val="0"/>
              </a:spcAft>
            </a:pPr>
            <a:r>
              <a:rPr sz="1100" b="0" i="0">
                <a:solidFill>
                  <a:srgbClr val="1A1C3A"/>
                </a:solidFill>
                <a:latin typeface="Calibri"/>
              </a:rPr>
              <a:t>Not significant  (p=0.13)</a:t>
            </a:r>
          </a:p>
        </p:txBody>
      </p:sp>
      <p:sp>
        <p:nvSpPr>
          <p:cNvPr id="9" name="TextBox 8"/>
          <p:cNvSpPr txBox="1"/>
          <p:nvPr/>
        </p:nvSpPr>
        <p:spPr>
          <a:xfrm>
            <a:off x="548640" y="5833872"/>
            <a:ext cx="6903720" cy="274320"/>
          </a:xfrm>
          <a:prstGeom prst="rect">
            <a:avLst/>
          </a:prstGeom>
          <a:noFill/>
        </p:spPr>
        <p:txBody>
          <a:bodyPr wrap="square" lIns="0" rIns="0" tIns="0" bIns="0" anchor="t">
            <a:spAutoFit/>
          </a:bodyPr>
          <a:lstStyle/>
          <a:p>
            <a:pPr algn="l">
              <a:spcBef>
                <a:spcPts val="0"/>
              </a:spcBef>
              <a:spcAft>
                <a:spcPts val="0"/>
              </a:spcAft>
            </a:pPr>
            <a:r>
              <a:rPr sz="1100" b="0" i="0">
                <a:solidFill>
                  <a:srgbClr val="5E637A"/>
                </a:solidFill>
                <a:latin typeface="Calibri"/>
              </a:rPr>
              <a:t>Mechanism is returns, not depth: 5.3 sessions vs 3.7, at 240s vs 231s per session.</a:t>
            </a:r>
          </a:p>
        </p:txBody>
      </p:sp>
      <p:sp>
        <p:nvSpPr>
          <p:cNvPr id="10" name="Rounded Rectangle 9"/>
          <p:cNvSpPr/>
          <p:nvPr/>
        </p:nvSpPr>
        <p:spPr>
          <a:xfrm>
            <a:off x="7699248" y="1828800"/>
            <a:ext cx="3941063" cy="2487168"/>
          </a:xfrm>
          <a:prstGeom prst="roundRect">
            <a:avLst>
              <a:gd name="adj" fmla="val 4500"/>
            </a:avLst>
          </a:prstGeom>
          <a:solidFill>
            <a:srgbClr val="F2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973568" y="2066543"/>
            <a:ext cx="155448" cy="155448"/>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47888" y="2029968"/>
            <a:ext cx="3200400" cy="228600"/>
          </a:xfrm>
          <a:prstGeom prst="rect">
            <a:avLst/>
          </a:prstGeom>
          <a:noFill/>
        </p:spPr>
        <p:txBody>
          <a:bodyPr wrap="square" lIns="0" rIns="0" tIns="0" bIns="0" anchor="t">
            <a:spAutoFit/>
          </a:bodyPr>
          <a:lstStyle/>
          <a:p>
            <a:pPr algn="l">
              <a:spcBef>
                <a:spcPts val="0"/>
              </a:spcBef>
              <a:spcAft>
                <a:spcPts val="0"/>
              </a:spcAft>
            </a:pPr>
            <a:r>
              <a:rPr sz="1050" b="1" i="0">
                <a:solidFill>
                  <a:srgbClr val="1A1C3A"/>
                </a:solidFill>
                <a:latin typeface="Calibri"/>
              </a:rPr>
              <a:t>THREE CAVEATS, OURS TO STATE</a:t>
            </a:r>
          </a:p>
        </p:txBody>
      </p:sp>
      <p:sp>
        <p:nvSpPr>
          <p:cNvPr id="13" name="Oval 12"/>
          <p:cNvSpPr/>
          <p:nvPr/>
        </p:nvSpPr>
        <p:spPr>
          <a:xfrm>
            <a:off x="7991856" y="2450592"/>
            <a:ext cx="100584" cy="100584"/>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7888" y="2395728"/>
            <a:ext cx="3200400" cy="530352"/>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5E637A"/>
                </a:solidFill>
                <a:latin typeface="Calibri"/>
              </a:rPr>
              <a:t>n=50 per arm cannot carry a rollout decision.</a:t>
            </a:r>
          </a:p>
        </p:txBody>
      </p:sp>
      <p:sp>
        <p:nvSpPr>
          <p:cNvPr id="15" name="Oval 14"/>
          <p:cNvSpPr/>
          <p:nvPr/>
        </p:nvSpPr>
        <p:spPr>
          <a:xfrm>
            <a:off x="7991856" y="3072384"/>
            <a:ext cx="100584" cy="100584"/>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3017520"/>
            <a:ext cx="3200400" cy="530352"/>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5E637A"/>
                </a:solidFill>
                <a:latin typeface="Calibri"/>
              </a:rPr>
              <a:t>Week 5 is confounded — control alone hit 46% against 27% in week 4.</a:t>
            </a:r>
          </a:p>
        </p:txBody>
      </p:sp>
      <p:sp>
        <p:nvSpPr>
          <p:cNvPr id="17" name="Oval 16"/>
          <p:cNvSpPr/>
          <p:nvPr/>
        </p:nvSpPr>
        <p:spPr>
          <a:xfrm>
            <a:off x="7991856" y="3694176"/>
            <a:ext cx="100584" cy="100584"/>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3639312"/>
            <a:ext cx="3200400" cy="530352"/>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5E637A"/>
                </a:solidFill>
                <a:latin typeface="Calibri"/>
              </a:rPr>
              <a:t>Arms unbalanced on streak-break status, 40% vs 50%, flattering us.</a:t>
            </a:r>
          </a:p>
        </p:txBody>
      </p:sp>
      <p:sp>
        <p:nvSpPr>
          <p:cNvPr id="19" name="Rounded Rectangle 18"/>
          <p:cNvSpPr/>
          <p:nvPr/>
        </p:nvSpPr>
        <p:spPr>
          <a:xfrm>
            <a:off x="7699248" y="4480560"/>
            <a:ext cx="3941063" cy="1627632"/>
          </a:xfrm>
          <a:prstGeom prst="roundRect">
            <a:avLst>
              <a:gd name="adj" fmla="val 4500"/>
            </a:avLst>
          </a:prstGeom>
          <a:solidFill>
            <a:srgbClr val="1A1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973568" y="4718304"/>
            <a:ext cx="155448" cy="155448"/>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47888" y="4681728"/>
            <a:ext cx="3200400" cy="228600"/>
          </a:xfrm>
          <a:prstGeom prst="rect">
            <a:avLst/>
          </a:prstGeom>
          <a:noFill/>
        </p:spPr>
        <p:txBody>
          <a:bodyPr wrap="square" lIns="0" rIns="0" tIns="0" bIns="0" anchor="t">
            <a:spAutoFit/>
          </a:bodyPr>
          <a:lstStyle/>
          <a:p>
            <a:pPr algn="l">
              <a:spcBef>
                <a:spcPts val="0"/>
              </a:spcBef>
              <a:spcAft>
                <a:spcPts val="0"/>
              </a:spcAft>
            </a:pPr>
            <a:r>
              <a:rPr sz="1050" b="1" i="0">
                <a:solidFill>
                  <a:srgbClr val="FF6B5B"/>
                </a:solidFill>
                <a:latin typeface="Calibri"/>
              </a:rPr>
              <a:t>WHAT WORRIES ME MOST</a:t>
            </a:r>
          </a:p>
        </p:txBody>
      </p:sp>
      <p:sp>
        <p:nvSpPr>
          <p:cNvPr id="22" name="TextBox 21"/>
          <p:cNvSpPr txBox="1"/>
          <p:nvPr/>
        </p:nvSpPr>
        <p:spPr>
          <a:xfrm>
            <a:off x="7973568" y="5029200"/>
            <a:ext cx="3474720" cy="914400"/>
          </a:xfrm>
          <a:prstGeom prst="rect">
            <a:avLst/>
          </a:prstGeom>
          <a:noFill/>
        </p:spPr>
        <p:txBody>
          <a:bodyPr wrap="square" lIns="0" rIns="0" tIns="0" bIns="0" anchor="t">
            <a:spAutoFit/>
          </a:bodyPr>
          <a:lstStyle/>
          <a:p>
            <a:pPr algn="l">
              <a:lnSpc>
                <a:spcPct val="128000"/>
              </a:lnSpc>
              <a:spcBef>
                <a:spcPts val="0"/>
              </a:spcBef>
              <a:spcAft>
                <a:spcPts val="0"/>
              </a:spcAft>
            </a:pPr>
            <a:r>
              <a:rPr sz="1200" b="1" i="0">
                <a:solidFill>
                  <a:srgbClr val="FFFFFF"/>
                </a:solidFill>
                <a:latin typeface="Calibri"/>
              </a:rPr>
              <a:t>current_streak is zero for all 190 streak-breakers</a:t>
            </a:r>
            <a:r>
              <a:rPr sz="1200" b="0" i="0">
                <a:solidFill>
                  <a:srgbClr val="FFFFFF"/>
                </a:solidFill>
                <a:latin typeface="Calibri"/>
              </a:rPr>
              <a:t>, including every treated one. The flow restarted zero streaks. It bought returns, not habit.</a:t>
            </a:r>
          </a:p>
        </p:txBody>
      </p:sp>
      <p:sp>
        <p:nvSpPr>
          <p:cNvPr id="23" name="TextBox 22"/>
          <p:cNvSpPr txBox="1"/>
          <p:nvPr/>
        </p:nvSpPr>
        <p:spPr>
          <a:xfrm>
            <a:off x="548640" y="6419088"/>
            <a:ext cx="8229600" cy="274320"/>
          </a:xfrm>
          <a:prstGeom prst="rect">
            <a:avLst/>
          </a:prstGeom>
          <a:noFill/>
        </p:spPr>
        <p:txBody>
          <a:bodyPr wrap="square" lIns="0" rIns="0" tIns="0" bIns="0" anchor="t">
            <a:spAutoFit/>
          </a:bodyPr>
          <a:lstStyle/>
          <a:p>
            <a:pPr algn="l">
              <a:spcBef>
                <a:spcPts val="0"/>
              </a:spcBef>
              <a:spcAft>
                <a:spcPts val="0"/>
              </a:spcAft>
            </a:pPr>
            <a:r>
              <a:rPr sz="900" b="0" i="0">
                <a:solidFill>
                  <a:srgbClr val="5E637A"/>
                </a:solidFill>
                <a:latin typeface="Calibri"/>
              </a:rPr>
              <a:t>Comeback Screen  ·  Quarterly Review  ·  2026-10-02</a:t>
            </a:r>
          </a:p>
        </p:txBody>
      </p:sp>
      <p:sp>
        <p:nvSpPr>
          <p:cNvPr id="24" name="TextBox 23"/>
          <p:cNvSpPr txBox="1"/>
          <p:nvPr/>
        </p:nvSpPr>
        <p:spPr>
          <a:xfrm>
            <a:off x="10515600" y="6419088"/>
            <a:ext cx="1124712" cy="274320"/>
          </a:xfrm>
          <a:prstGeom prst="rect">
            <a:avLst/>
          </a:prstGeom>
          <a:noFill/>
        </p:spPr>
        <p:txBody>
          <a:bodyPr wrap="square" lIns="0" rIns="0" tIns="0" bIns="0" anchor="t">
            <a:spAutoFit/>
          </a:bodyPr>
          <a:lstStyle/>
          <a:p>
            <a:pPr algn="r">
              <a:spcBef>
                <a:spcPts val="0"/>
              </a:spcBef>
              <a:spcAft>
                <a:spcPts val="0"/>
              </a:spcAft>
            </a:pPr>
            <a:r>
              <a:rPr sz="900" b="0" i="0">
                <a:solidFill>
                  <a:srgbClr val="5E637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48640"/>
            <a:ext cx="11064240" cy="822960"/>
          </a:xfrm>
          <a:prstGeom prst="rect">
            <a:avLst/>
          </a:prstGeom>
          <a:noFill/>
        </p:spPr>
        <p:txBody>
          <a:bodyPr wrap="square" lIns="0" rIns="0" tIns="0" bIns="0" anchor="t">
            <a:spAutoFit/>
          </a:bodyPr>
          <a:lstStyle/>
          <a:p>
            <a:pPr algn="l">
              <a:lnSpc>
                <a:spcPct val="100000"/>
              </a:lnSpc>
              <a:spcBef>
                <a:spcPts val="0"/>
              </a:spcBef>
              <a:spcAft>
                <a:spcPts val="0"/>
              </a:spcAft>
            </a:pPr>
            <a:r>
              <a:rPr sz="3400" b="1" i="0">
                <a:solidFill>
                  <a:srgbClr val="1A1C3A"/>
                </a:solidFill>
                <a:latin typeface="Cambria"/>
              </a:rPr>
              <a:t>Two weeks to a decision-grade read. No new product work.</a:t>
            </a:r>
          </a:p>
        </p:txBody>
      </p:sp>
      <p:sp>
        <p:nvSpPr>
          <p:cNvPr id="3" name="TextBox 2"/>
          <p:cNvSpPr txBox="1"/>
          <p:nvPr/>
        </p:nvSpPr>
        <p:spPr>
          <a:xfrm>
            <a:off x="548640" y="1371600"/>
            <a:ext cx="11064240" cy="274320"/>
          </a:xfrm>
          <a:prstGeom prst="rect">
            <a:avLst/>
          </a:prstGeom>
          <a:noFill/>
        </p:spPr>
        <p:txBody>
          <a:bodyPr wrap="square" lIns="0" rIns="0" tIns="0" bIns="0" anchor="t">
            <a:spAutoFit/>
          </a:bodyPr>
          <a:lstStyle/>
          <a:p>
            <a:pPr algn="l">
              <a:spcBef>
                <a:spcPts val="0"/>
              </a:spcBef>
              <a:spcAft>
                <a:spcPts val="0"/>
              </a:spcAft>
            </a:pPr>
            <a:r>
              <a:rPr sz="1300" b="1" i="0">
                <a:solidFill>
                  <a:srgbClr val="5E637A"/>
                </a:solidFill>
                <a:latin typeface="Calibri"/>
              </a:rPr>
              <a:t>Milestones</a:t>
            </a:r>
          </a:p>
        </p:txBody>
      </p:sp>
      <p:sp>
        <p:nvSpPr>
          <p:cNvPr id="4" name="Rounded Rectangle 3"/>
          <p:cNvSpPr/>
          <p:nvPr/>
        </p:nvSpPr>
        <p:spPr>
          <a:xfrm>
            <a:off x="548640" y="1783080"/>
            <a:ext cx="2670048" cy="1874519"/>
          </a:xfrm>
          <a:prstGeom prst="roundRect">
            <a:avLst>
              <a:gd name="adj" fmla="val 4500"/>
            </a:avLst>
          </a:prstGeom>
          <a:solidFill>
            <a:srgbClr val="F2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59" y="2029968"/>
            <a:ext cx="384048" cy="384048"/>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1</a:t>
            </a:r>
          </a:p>
        </p:txBody>
      </p:sp>
      <p:sp>
        <p:nvSpPr>
          <p:cNvPr id="6" name="TextBox 5"/>
          <p:cNvSpPr txBox="1"/>
          <p:nvPr/>
        </p:nvSpPr>
        <p:spPr>
          <a:xfrm>
            <a:off x="822959" y="2542032"/>
            <a:ext cx="2148840" cy="274320"/>
          </a:xfrm>
          <a:prstGeom prst="rect">
            <a:avLst/>
          </a:prstGeom>
          <a:noFill/>
        </p:spPr>
        <p:txBody>
          <a:bodyPr wrap="square" lIns="0" rIns="0" tIns="0" bIns="0" anchor="t">
            <a:spAutoFit/>
          </a:bodyPr>
          <a:lstStyle/>
          <a:p>
            <a:pPr algn="l">
              <a:spcBef>
                <a:spcPts val="0"/>
              </a:spcBef>
              <a:spcAft>
                <a:spcPts val="0"/>
              </a:spcAft>
            </a:pPr>
            <a:r>
              <a:rPr sz="1450" b="1" i="0">
                <a:solidFill>
                  <a:srgbClr val="1A1C3A"/>
                </a:solidFill>
                <a:latin typeface="Cambria"/>
              </a:rPr>
              <a:t>Thursday</a:t>
            </a:r>
          </a:p>
        </p:txBody>
      </p:sp>
      <p:sp>
        <p:nvSpPr>
          <p:cNvPr id="7" name="TextBox 6"/>
          <p:cNvSpPr txBox="1"/>
          <p:nvPr/>
        </p:nvSpPr>
        <p:spPr>
          <a:xfrm>
            <a:off x="822959" y="2871216"/>
            <a:ext cx="2148840" cy="731520"/>
          </a:xfrm>
          <a:prstGeom prst="rect">
            <a:avLst/>
          </a:prstGeom>
          <a:noFill/>
        </p:spPr>
        <p:txBody>
          <a:bodyPr wrap="square" lIns="0" rIns="0" tIns="0" bIns="0" anchor="t">
            <a:spAutoFit/>
          </a:bodyPr>
          <a:lstStyle/>
          <a:p>
            <a:pPr algn="l">
              <a:lnSpc>
                <a:spcPct val="122000"/>
              </a:lnSpc>
              <a:spcBef>
                <a:spcPts val="0"/>
              </a:spcBef>
              <a:spcAft>
                <a:spcPts val="0"/>
              </a:spcAft>
            </a:pPr>
            <a:r>
              <a:rPr sz="1100" b="0" i="0">
                <a:solidFill>
                  <a:srgbClr val="5E637A"/>
                </a:solidFill>
                <a:latin typeface="Calibri"/>
              </a:rPr>
              <a:t>Triad closes the five blocking decisions, eligibility and restore limit included.</a:t>
            </a:r>
          </a:p>
        </p:txBody>
      </p:sp>
      <p:sp>
        <p:nvSpPr>
          <p:cNvPr id="8" name="Rounded Rectangle 7"/>
          <p:cNvSpPr/>
          <p:nvPr/>
        </p:nvSpPr>
        <p:spPr>
          <a:xfrm>
            <a:off x="3355848" y="1783080"/>
            <a:ext cx="2670048" cy="1874519"/>
          </a:xfrm>
          <a:prstGeom prst="roundRect">
            <a:avLst>
              <a:gd name="adj" fmla="val 4500"/>
            </a:avLst>
          </a:prstGeom>
          <a:solidFill>
            <a:srgbClr val="F2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3630168" y="2029968"/>
            <a:ext cx="384048" cy="384048"/>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2</a:t>
            </a:r>
          </a:p>
        </p:txBody>
      </p:sp>
      <p:sp>
        <p:nvSpPr>
          <p:cNvPr id="10" name="TextBox 9"/>
          <p:cNvSpPr txBox="1"/>
          <p:nvPr/>
        </p:nvSpPr>
        <p:spPr>
          <a:xfrm>
            <a:off x="3630168" y="2542032"/>
            <a:ext cx="2148840" cy="274320"/>
          </a:xfrm>
          <a:prstGeom prst="rect">
            <a:avLst/>
          </a:prstGeom>
          <a:noFill/>
        </p:spPr>
        <p:txBody>
          <a:bodyPr wrap="square" lIns="0" rIns="0" tIns="0" bIns="0" anchor="t">
            <a:spAutoFit/>
          </a:bodyPr>
          <a:lstStyle/>
          <a:p>
            <a:pPr algn="l">
              <a:spcBef>
                <a:spcPts val="0"/>
              </a:spcBef>
              <a:spcAft>
                <a:spcPts val="0"/>
              </a:spcAft>
            </a:pPr>
            <a:r>
              <a:rPr sz="1450" b="1" i="0">
                <a:solidFill>
                  <a:srgbClr val="1A1C3A"/>
                </a:solidFill>
                <a:latin typeface="Cambria"/>
              </a:rPr>
              <a:t>Friday</a:t>
            </a:r>
          </a:p>
        </p:txBody>
      </p:sp>
      <p:sp>
        <p:nvSpPr>
          <p:cNvPr id="11" name="TextBox 10"/>
          <p:cNvSpPr txBox="1"/>
          <p:nvPr/>
        </p:nvSpPr>
        <p:spPr>
          <a:xfrm>
            <a:off x="3630168" y="2871216"/>
            <a:ext cx="2148840" cy="731520"/>
          </a:xfrm>
          <a:prstGeom prst="rect">
            <a:avLst/>
          </a:prstGeom>
          <a:noFill/>
        </p:spPr>
        <p:txBody>
          <a:bodyPr wrap="square" lIns="0" rIns="0" tIns="0" bIns="0" anchor="t">
            <a:spAutoFit/>
          </a:bodyPr>
          <a:lstStyle/>
          <a:p>
            <a:pPr algn="l">
              <a:lnSpc>
                <a:spcPct val="122000"/>
              </a:lnSpc>
              <a:spcBef>
                <a:spcPts val="0"/>
              </a:spcBef>
              <a:spcAft>
                <a:spcPts val="0"/>
              </a:spcAft>
            </a:pPr>
            <a:r>
              <a:rPr sz="1100" b="0" i="0">
                <a:solidFill>
                  <a:srgbClr val="5E637A"/>
                </a:solidFill>
                <a:latin typeface="Calibri"/>
              </a:rPr>
              <a:t>Credible rollout date — the day after those decisions close.</a:t>
            </a:r>
          </a:p>
        </p:txBody>
      </p:sp>
      <p:sp>
        <p:nvSpPr>
          <p:cNvPr id="12" name="Rounded Rectangle 11"/>
          <p:cNvSpPr/>
          <p:nvPr/>
        </p:nvSpPr>
        <p:spPr>
          <a:xfrm>
            <a:off x="6163056" y="1783080"/>
            <a:ext cx="2670048" cy="1874519"/>
          </a:xfrm>
          <a:prstGeom prst="roundRect">
            <a:avLst>
              <a:gd name="adj" fmla="val 4500"/>
            </a:avLst>
          </a:prstGeom>
          <a:solidFill>
            <a:srgbClr val="F2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37376" y="2029968"/>
            <a:ext cx="384048" cy="384048"/>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3</a:t>
            </a:r>
          </a:p>
        </p:txBody>
      </p:sp>
      <p:sp>
        <p:nvSpPr>
          <p:cNvPr id="14" name="TextBox 13"/>
          <p:cNvSpPr txBox="1"/>
          <p:nvPr/>
        </p:nvSpPr>
        <p:spPr>
          <a:xfrm>
            <a:off x="6437376" y="2542032"/>
            <a:ext cx="2148840" cy="274320"/>
          </a:xfrm>
          <a:prstGeom prst="rect">
            <a:avLst/>
          </a:prstGeom>
          <a:noFill/>
        </p:spPr>
        <p:txBody>
          <a:bodyPr wrap="square" lIns="0" rIns="0" tIns="0" bIns="0" anchor="t">
            <a:spAutoFit/>
          </a:bodyPr>
          <a:lstStyle/>
          <a:p>
            <a:pPr algn="l">
              <a:spcBef>
                <a:spcPts val="0"/>
              </a:spcBef>
              <a:spcAft>
                <a:spcPts val="0"/>
              </a:spcAft>
            </a:pPr>
            <a:r>
              <a:rPr sz="1450" b="1" i="0">
                <a:solidFill>
                  <a:srgbClr val="1A1C3A"/>
                </a:solidFill>
                <a:latin typeface="Cambria"/>
              </a:rPr>
              <a:t>Before the cohort</a:t>
            </a:r>
          </a:p>
        </p:txBody>
      </p:sp>
      <p:sp>
        <p:nvSpPr>
          <p:cNvPr id="15" name="TextBox 14"/>
          <p:cNvSpPr txBox="1"/>
          <p:nvPr/>
        </p:nvSpPr>
        <p:spPr>
          <a:xfrm>
            <a:off x="6437376" y="2871216"/>
            <a:ext cx="2148840" cy="731520"/>
          </a:xfrm>
          <a:prstGeom prst="rect">
            <a:avLst/>
          </a:prstGeom>
          <a:noFill/>
        </p:spPr>
        <p:txBody>
          <a:bodyPr wrap="square" lIns="0" rIns="0" tIns="0" bIns="0" anchor="t">
            <a:spAutoFit/>
          </a:bodyPr>
          <a:lstStyle/>
          <a:p>
            <a:pPr algn="l">
              <a:lnSpc>
                <a:spcPct val="122000"/>
              </a:lnSpc>
              <a:spcBef>
                <a:spcPts val="0"/>
              </a:spcBef>
              <a:spcAft>
                <a:spcPts val="0"/>
              </a:spcAft>
            </a:pPr>
            <a:r>
              <a:rPr sz="1100" b="0" i="0">
                <a:solidFill>
                  <a:srgbClr val="5E637A"/>
                </a:solidFill>
                <a:latin typeface="Calibri"/>
              </a:rPr>
              <a:t>Instrument the control arm, and log send eligibility.</a:t>
            </a:r>
          </a:p>
        </p:txBody>
      </p:sp>
      <p:sp>
        <p:nvSpPr>
          <p:cNvPr id="16" name="Rounded Rectangle 15"/>
          <p:cNvSpPr/>
          <p:nvPr/>
        </p:nvSpPr>
        <p:spPr>
          <a:xfrm>
            <a:off x="8970264" y="1783080"/>
            <a:ext cx="2670048" cy="1874519"/>
          </a:xfrm>
          <a:prstGeom prst="roundRect">
            <a:avLst>
              <a:gd name="adj" fmla="val 4500"/>
            </a:avLst>
          </a:prstGeom>
          <a:solidFill>
            <a:srgbClr val="F2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244584" y="2029968"/>
            <a:ext cx="384048" cy="384048"/>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4</a:t>
            </a:r>
          </a:p>
        </p:txBody>
      </p:sp>
      <p:sp>
        <p:nvSpPr>
          <p:cNvPr id="18" name="TextBox 17"/>
          <p:cNvSpPr txBox="1"/>
          <p:nvPr/>
        </p:nvSpPr>
        <p:spPr>
          <a:xfrm>
            <a:off x="9244584" y="2542032"/>
            <a:ext cx="2148840" cy="274320"/>
          </a:xfrm>
          <a:prstGeom prst="rect">
            <a:avLst/>
          </a:prstGeom>
          <a:noFill/>
        </p:spPr>
        <p:txBody>
          <a:bodyPr wrap="square" lIns="0" rIns="0" tIns="0" bIns="0" anchor="t">
            <a:spAutoFit/>
          </a:bodyPr>
          <a:lstStyle/>
          <a:p>
            <a:pPr algn="l">
              <a:spcBef>
                <a:spcPts val="0"/>
              </a:spcBef>
              <a:spcAft>
                <a:spcPts val="0"/>
              </a:spcAft>
            </a:pPr>
            <a:r>
              <a:rPr sz="1450" b="1" i="0">
                <a:solidFill>
                  <a:srgbClr val="1A1C3A"/>
                </a:solidFill>
                <a:latin typeface="Cambria"/>
              </a:rPr>
              <a:t>Weeks 1–2</a:t>
            </a:r>
          </a:p>
        </p:txBody>
      </p:sp>
      <p:sp>
        <p:nvSpPr>
          <p:cNvPr id="19" name="TextBox 18"/>
          <p:cNvSpPr txBox="1"/>
          <p:nvPr/>
        </p:nvSpPr>
        <p:spPr>
          <a:xfrm>
            <a:off x="9244584" y="2871216"/>
            <a:ext cx="2148840" cy="731520"/>
          </a:xfrm>
          <a:prstGeom prst="rect">
            <a:avLst/>
          </a:prstGeom>
          <a:noFill/>
        </p:spPr>
        <p:txBody>
          <a:bodyPr wrap="square" lIns="0" rIns="0" tIns="0" bIns="0" anchor="t">
            <a:spAutoFit/>
          </a:bodyPr>
          <a:lstStyle/>
          <a:p>
            <a:pPr algn="l">
              <a:lnSpc>
                <a:spcPct val="122000"/>
              </a:lnSpc>
              <a:spcBef>
                <a:spcPts val="0"/>
              </a:spcBef>
              <a:spcAft>
                <a:spcPts val="0"/>
              </a:spcAft>
            </a:pPr>
            <a:r>
              <a:rPr sz="1100" b="0" i="0">
                <a:solidFill>
                  <a:srgbClr val="5E637A"/>
                </a:solidFill>
                <a:latin typeface="Calibri"/>
              </a:rPr>
              <a:t>Second cohort at n ≥ 200 per arm, randomized on streak-break status, sized for Day-30.</a:t>
            </a:r>
          </a:p>
        </p:txBody>
      </p:sp>
      <p:sp>
        <p:nvSpPr>
          <p:cNvPr id="20" name="TextBox 19"/>
          <p:cNvSpPr txBox="1"/>
          <p:nvPr/>
        </p:nvSpPr>
        <p:spPr>
          <a:xfrm>
            <a:off x="548640" y="3840480"/>
            <a:ext cx="11064240" cy="274320"/>
          </a:xfrm>
          <a:prstGeom prst="rect">
            <a:avLst/>
          </a:prstGeom>
          <a:noFill/>
        </p:spPr>
        <p:txBody>
          <a:bodyPr wrap="square" lIns="0" rIns="0" tIns="0" bIns="0" anchor="t">
            <a:spAutoFit/>
          </a:bodyPr>
          <a:lstStyle/>
          <a:p>
            <a:pPr algn="l">
              <a:spcBef>
                <a:spcPts val="0"/>
              </a:spcBef>
              <a:spcAft>
                <a:spcPts val="0"/>
              </a:spcAft>
            </a:pPr>
            <a:r>
              <a:rPr sz="1300" b="1" i="0">
                <a:solidFill>
                  <a:srgbClr val="5E637A"/>
                </a:solidFill>
                <a:latin typeface="Calibri"/>
              </a:rPr>
              <a:t>Risks</a:t>
            </a:r>
          </a:p>
        </p:txBody>
      </p:sp>
      <p:sp>
        <p:nvSpPr>
          <p:cNvPr id="21" name="Rounded Rectangle 20"/>
          <p:cNvSpPr/>
          <p:nvPr/>
        </p:nvSpPr>
        <p:spPr>
          <a:xfrm>
            <a:off x="548640" y="4224528"/>
            <a:ext cx="5413248" cy="914400"/>
          </a:xfrm>
          <a:prstGeom prst="roundRect">
            <a:avLst>
              <a:gd name="adj" fmla="val 4500"/>
            </a:avLst>
          </a:prstGeom>
          <a:solidFill>
            <a:srgbClr val="F2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22959" y="4462272"/>
            <a:ext cx="137160" cy="13716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0704" y="4407408"/>
            <a:ext cx="4709160" cy="256032"/>
          </a:xfrm>
          <a:prstGeom prst="rect">
            <a:avLst/>
          </a:prstGeom>
          <a:noFill/>
        </p:spPr>
        <p:txBody>
          <a:bodyPr wrap="square" lIns="0" rIns="0" tIns="0" bIns="0" anchor="t">
            <a:spAutoFit/>
          </a:bodyPr>
          <a:lstStyle/>
          <a:p>
            <a:pPr algn="l">
              <a:spcBef>
                <a:spcPts val="0"/>
              </a:spcBef>
              <a:spcAft>
                <a:spcPts val="0"/>
              </a:spcAft>
            </a:pPr>
            <a:r>
              <a:rPr sz="1300" b="1" i="0">
                <a:solidFill>
                  <a:srgbClr val="1A1C3A"/>
                </a:solidFill>
                <a:latin typeface="Calibri"/>
              </a:rPr>
              <a:t>Week-5 control beat week 4 by 19 points</a:t>
            </a:r>
          </a:p>
        </p:txBody>
      </p:sp>
      <p:sp>
        <p:nvSpPr>
          <p:cNvPr id="24" name="TextBox 23"/>
          <p:cNvSpPr txBox="1"/>
          <p:nvPr/>
        </p:nvSpPr>
        <p:spPr>
          <a:xfrm>
            <a:off x="1060704" y="4718304"/>
            <a:ext cx="4709160" cy="32004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E637A"/>
                </a:solidFill>
                <a:latin typeface="Calibri"/>
              </a:rPr>
              <a:t>Unexplained. The single biggest threat to this read.</a:t>
            </a:r>
          </a:p>
        </p:txBody>
      </p:sp>
      <p:sp>
        <p:nvSpPr>
          <p:cNvPr id="25" name="Rounded Rectangle 24"/>
          <p:cNvSpPr/>
          <p:nvPr/>
        </p:nvSpPr>
        <p:spPr>
          <a:xfrm>
            <a:off x="6227064" y="4224528"/>
            <a:ext cx="5413248" cy="914400"/>
          </a:xfrm>
          <a:prstGeom prst="roundRect">
            <a:avLst>
              <a:gd name="adj" fmla="val 4500"/>
            </a:avLst>
          </a:prstGeom>
          <a:solidFill>
            <a:srgbClr val="F2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501383" y="4462272"/>
            <a:ext cx="137160" cy="13716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39127" y="4407408"/>
            <a:ext cx="4709160" cy="256032"/>
          </a:xfrm>
          <a:prstGeom prst="rect">
            <a:avLst/>
          </a:prstGeom>
          <a:noFill/>
        </p:spPr>
        <p:txBody>
          <a:bodyPr wrap="square" lIns="0" rIns="0" tIns="0" bIns="0" anchor="t">
            <a:spAutoFit/>
          </a:bodyPr>
          <a:lstStyle/>
          <a:p>
            <a:pPr algn="l">
              <a:spcBef>
                <a:spcPts val="0"/>
              </a:spcBef>
              <a:spcAft>
                <a:spcPts val="0"/>
              </a:spcAft>
            </a:pPr>
            <a:r>
              <a:rPr sz="1300" b="1" i="0">
                <a:solidFill>
                  <a:srgbClr val="1A1C3A"/>
                </a:solidFill>
                <a:latin typeface="Calibri"/>
              </a:rPr>
              <a:t>Engineering has not costed what we built</a:t>
            </a:r>
          </a:p>
        </p:txBody>
      </p:sp>
      <p:sp>
        <p:nvSpPr>
          <p:cNvPr id="28" name="TextBox 27"/>
          <p:cNvSpPr txBox="1"/>
          <p:nvPr/>
        </p:nvSpPr>
        <p:spPr>
          <a:xfrm>
            <a:off x="6739127" y="4718304"/>
            <a:ext cx="4709160" cy="32004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E637A"/>
                </a:solidFill>
                <a:latin typeface="Calibri"/>
              </a:rPr>
              <a:t>Raj scoped a streak freeze; the prototype does a retroactive restore.</a:t>
            </a:r>
          </a:p>
        </p:txBody>
      </p:sp>
      <p:sp>
        <p:nvSpPr>
          <p:cNvPr id="29" name="Rounded Rectangle 28"/>
          <p:cNvSpPr/>
          <p:nvPr/>
        </p:nvSpPr>
        <p:spPr>
          <a:xfrm>
            <a:off x="548640" y="5230368"/>
            <a:ext cx="5413248" cy="914400"/>
          </a:xfrm>
          <a:prstGeom prst="roundRect">
            <a:avLst>
              <a:gd name="adj" fmla="val 4500"/>
            </a:avLst>
          </a:prstGeom>
          <a:solidFill>
            <a:srgbClr val="F2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22959" y="5468112"/>
            <a:ext cx="137160" cy="13716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0704" y="5413248"/>
            <a:ext cx="4709160" cy="256032"/>
          </a:xfrm>
          <a:prstGeom prst="rect">
            <a:avLst/>
          </a:prstGeom>
          <a:noFill/>
        </p:spPr>
        <p:txBody>
          <a:bodyPr wrap="square" lIns="0" rIns="0" tIns="0" bIns="0" anchor="t">
            <a:spAutoFit/>
          </a:bodyPr>
          <a:lstStyle/>
          <a:p>
            <a:pPr algn="l">
              <a:spcBef>
                <a:spcPts val="0"/>
              </a:spcBef>
              <a:spcAft>
                <a:spcPts val="0"/>
              </a:spcAft>
            </a:pPr>
            <a:r>
              <a:rPr sz="1300" b="1" i="0">
                <a:solidFill>
                  <a:srgbClr val="1A1C3A"/>
                </a:solidFill>
                <a:latin typeface="Calibri"/>
              </a:rPr>
              <a:t>Solution evidence is a 3-persona roleplay</a:t>
            </a:r>
          </a:p>
        </p:txBody>
      </p:sp>
      <p:sp>
        <p:nvSpPr>
          <p:cNvPr id="32" name="TextBox 31"/>
          <p:cNvSpPr txBox="1"/>
          <p:nvPr/>
        </p:nvSpPr>
        <p:spPr>
          <a:xfrm>
            <a:off x="1060704" y="5724144"/>
            <a:ext cx="4709160" cy="32004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E637A"/>
                </a:solidFill>
                <a:latin typeface="Calibri"/>
              </a:rPr>
              <a:t>Not real users. I would not call this pressure-tested yet.</a:t>
            </a:r>
          </a:p>
        </p:txBody>
      </p:sp>
      <p:sp>
        <p:nvSpPr>
          <p:cNvPr id="33" name="Rounded Rectangle 32"/>
          <p:cNvSpPr/>
          <p:nvPr/>
        </p:nvSpPr>
        <p:spPr>
          <a:xfrm>
            <a:off x="6227064" y="5230368"/>
            <a:ext cx="5413248" cy="914400"/>
          </a:xfrm>
          <a:prstGeom prst="roundRect">
            <a:avLst>
              <a:gd name="adj" fmla="val 4500"/>
            </a:avLst>
          </a:prstGeom>
          <a:solidFill>
            <a:srgbClr val="F2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501383" y="5468112"/>
            <a:ext cx="137160" cy="13716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39127" y="5413248"/>
            <a:ext cx="4709160" cy="256032"/>
          </a:xfrm>
          <a:prstGeom prst="rect">
            <a:avLst/>
          </a:prstGeom>
          <a:noFill/>
        </p:spPr>
        <p:txBody>
          <a:bodyPr wrap="square" lIns="0" rIns="0" tIns="0" bIns="0" anchor="t">
            <a:spAutoFit/>
          </a:bodyPr>
          <a:lstStyle/>
          <a:p>
            <a:pPr algn="l">
              <a:spcBef>
                <a:spcPts val="0"/>
              </a:spcBef>
              <a:spcAft>
                <a:spcPts val="0"/>
              </a:spcAft>
            </a:pPr>
            <a:r>
              <a:rPr sz="1300" b="1" i="0">
                <a:solidFill>
                  <a:srgbClr val="1A1C3A"/>
                </a:solidFill>
                <a:latin typeface="Calibri"/>
              </a:rPr>
              <a:t>Shipping on n=50 risks the wrong 38%</a:t>
            </a:r>
          </a:p>
        </p:txBody>
      </p:sp>
      <p:sp>
        <p:nvSpPr>
          <p:cNvPr id="36" name="TextBox 35"/>
          <p:cNvSpPr txBox="1"/>
          <p:nvPr/>
        </p:nvSpPr>
        <p:spPr>
          <a:xfrm>
            <a:off x="6739127" y="5724144"/>
            <a:ext cx="4709160" cy="32004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E637A"/>
                </a:solidFill>
                <a:latin typeface="Calibri"/>
              </a:rPr>
              <a:t>And burns the credibility we need for the next engagement bet.</a:t>
            </a:r>
          </a:p>
        </p:txBody>
      </p:sp>
      <p:sp>
        <p:nvSpPr>
          <p:cNvPr id="37" name="TextBox 36"/>
          <p:cNvSpPr txBox="1"/>
          <p:nvPr/>
        </p:nvSpPr>
        <p:spPr>
          <a:xfrm>
            <a:off x="548640" y="6419088"/>
            <a:ext cx="8229600" cy="274320"/>
          </a:xfrm>
          <a:prstGeom prst="rect">
            <a:avLst/>
          </a:prstGeom>
          <a:noFill/>
        </p:spPr>
        <p:txBody>
          <a:bodyPr wrap="square" lIns="0" rIns="0" tIns="0" bIns="0" anchor="t">
            <a:spAutoFit/>
          </a:bodyPr>
          <a:lstStyle/>
          <a:p>
            <a:pPr algn="l">
              <a:spcBef>
                <a:spcPts val="0"/>
              </a:spcBef>
              <a:spcAft>
                <a:spcPts val="0"/>
              </a:spcAft>
            </a:pPr>
            <a:r>
              <a:rPr sz="900" b="0" i="0">
                <a:solidFill>
                  <a:srgbClr val="5E637A"/>
                </a:solidFill>
                <a:latin typeface="Calibri"/>
              </a:rPr>
              <a:t>Comeback Screen  ·  Quarterly Review  ·  2026-10-02</a:t>
            </a:r>
          </a:p>
        </p:txBody>
      </p:sp>
      <p:sp>
        <p:nvSpPr>
          <p:cNvPr id="38" name="TextBox 37"/>
          <p:cNvSpPr txBox="1"/>
          <p:nvPr/>
        </p:nvSpPr>
        <p:spPr>
          <a:xfrm>
            <a:off x="10515600" y="6419088"/>
            <a:ext cx="1124712" cy="274320"/>
          </a:xfrm>
          <a:prstGeom prst="rect">
            <a:avLst/>
          </a:prstGeom>
          <a:noFill/>
        </p:spPr>
        <p:txBody>
          <a:bodyPr wrap="square" lIns="0" rIns="0" tIns="0" bIns="0" anchor="t">
            <a:spAutoFit/>
          </a:bodyPr>
          <a:lstStyle/>
          <a:p>
            <a:pPr algn="r">
              <a:spcBef>
                <a:spcPts val="0"/>
              </a:spcBef>
              <a:spcAft>
                <a:spcPts val="0"/>
              </a:spcAft>
            </a:pPr>
            <a:r>
              <a:rPr sz="900" b="0" i="0">
                <a:solidFill>
                  <a:srgbClr val="5E637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C3A"/>
        </a:solidFill>
        <a:effectLst/>
      </p:bgPr>
    </p:bg>
    <p:spTree>
      <p:nvGrpSpPr>
        <p:cNvPr id="1" name=""/>
        <p:cNvGrpSpPr/>
        <p:nvPr/>
      </p:nvGrpSpPr>
      <p:grpSpPr/>
      <p:sp>
        <p:nvSpPr>
          <p:cNvPr id="2" name="TextBox 1"/>
          <p:cNvSpPr txBox="1"/>
          <p:nvPr/>
        </p:nvSpPr>
        <p:spPr>
          <a:xfrm>
            <a:off x="548640" y="548640"/>
            <a:ext cx="11064240" cy="822960"/>
          </a:xfrm>
          <a:prstGeom prst="rect">
            <a:avLst/>
          </a:prstGeom>
          <a:noFill/>
        </p:spPr>
        <p:txBody>
          <a:bodyPr wrap="square" lIns="0" rIns="0" tIns="0" bIns="0" anchor="t">
            <a:spAutoFit/>
          </a:bodyPr>
          <a:lstStyle/>
          <a:p>
            <a:pPr algn="l">
              <a:lnSpc>
                <a:spcPct val="100000"/>
              </a:lnSpc>
              <a:spcBef>
                <a:spcPts val="0"/>
              </a:spcBef>
              <a:spcAft>
                <a:spcPts val="0"/>
              </a:spcAft>
            </a:pPr>
            <a:r>
              <a:rPr sz="3400" b="1" i="0">
                <a:solidFill>
                  <a:srgbClr val="FFFFFF"/>
                </a:solidFill>
                <a:latin typeface="Cambria"/>
              </a:rPr>
              <a:t>Three decisions from you on Thursday</a:t>
            </a:r>
          </a:p>
        </p:txBody>
      </p:sp>
      <p:sp>
        <p:nvSpPr>
          <p:cNvPr id="3" name="TextBox 2"/>
          <p:cNvSpPr txBox="1"/>
          <p:nvPr/>
        </p:nvSpPr>
        <p:spPr>
          <a:xfrm>
            <a:off x="548640" y="1371600"/>
            <a:ext cx="11064240" cy="274320"/>
          </a:xfrm>
          <a:prstGeom prst="rect">
            <a:avLst/>
          </a:prstGeom>
          <a:noFill/>
        </p:spPr>
        <p:txBody>
          <a:bodyPr wrap="square" lIns="0" rIns="0" tIns="0" bIns="0" anchor="t">
            <a:spAutoFit/>
          </a:bodyPr>
          <a:lstStyle/>
          <a:p>
            <a:pPr algn="l">
              <a:spcBef>
                <a:spcPts val="0"/>
              </a:spcBef>
              <a:spcAft>
                <a:spcPts val="0"/>
              </a:spcAft>
            </a:pPr>
            <a:r>
              <a:rPr sz="1300" b="1" i="0">
                <a:solidFill>
                  <a:srgbClr val="9AA0C3"/>
                </a:solidFill>
                <a:latin typeface="Calibri"/>
              </a:rPr>
              <a:t>Decision 2 is the one that cannot wait</a:t>
            </a:r>
          </a:p>
        </p:txBody>
      </p:sp>
      <p:sp>
        <p:nvSpPr>
          <p:cNvPr id="4" name="Oval 3"/>
          <p:cNvSpPr/>
          <p:nvPr/>
        </p:nvSpPr>
        <p:spPr>
          <a:xfrm>
            <a:off x="566928" y="1865376"/>
            <a:ext cx="420624" cy="420624"/>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1</a:t>
            </a:r>
          </a:p>
        </p:txBody>
      </p:sp>
      <p:sp>
        <p:nvSpPr>
          <p:cNvPr id="5" name="TextBox 4"/>
          <p:cNvSpPr txBox="1"/>
          <p:nvPr/>
        </p:nvSpPr>
        <p:spPr>
          <a:xfrm>
            <a:off x="1188720" y="1847088"/>
            <a:ext cx="5394960" cy="292608"/>
          </a:xfrm>
          <a:prstGeom prst="rect">
            <a:avLst/>
          </a:prstGeom>
          <a:noFill/>
        </p:spPr>
        <p:txBody>
          <a:bodyPr wrap="square" lIns="0" rIns="0" tIns="0" bIns="0" anchor="t">
            <a:spAutoFit/>
          </a:bodyPr>
          <a:lstStyle/>
          <a:p>
            <a:pPr algn="l">
              <a:spcBef>
                <a:spcPts val="0"/>
              </a:spcBef>
              <a:spcAft>
                <a:spcPts val="0"/>
              </a:spcAft>
            </a:pPr>
            <a:r>
              <a:rPr sz="1800" b="1" i="0">
                <a:solidFill>
                  <a:srgbClr val="FFFFFF"/>
                </a:solidFill>
                <a:latin typeface="Cambria"/>
              </a:rPr>
              <a:t>Approve the second cohort</a:t>
            </a:r>
          </a:p>
        </p:txBody>
      </p:sp>
      <p:sp>
        <p:nvSpPr>
          <p:cNvPr id="6" name="TextBox 5"/>
          <p:cNvSpPr txBox="1"/>
          <p:nvPr/>
        </p:nvSpPr>
        <p:spPr>
          <a:xfrm>
            <a:off x="1188720" y="2231136"/>
            <a:ext cx="5394960" cy="868680"/>
          </a:xfrm>
          <a:prstGeom prst="rect">
            <a:avLst/>
          </a:prstGeom>
          <a:noFill/>
        </p:spPr>
        <p:txBody>
          <a:bodyPr wrap="square" lIns="0" rIns="0" tIns="0" bIns="0" anchor="t">
            <a:spAutoFit/>
          </a:bodyPr>
          <a:lstStyle/>
          <a:p>
            <a:pPr algn="l">
              <a:lnSpc>
                <a:spcPct val="130000"/>
              </a:lnSpc>
              <a:spcBef>
                <a:spcPts val="0"/>
              </a:spcBef>
              <a:spcAft>
                <a:spcPts val="0"/>
              </a:spcAft>
            </a:pPr>
            <a:r>
              <a:rPr sz="1300" b="0" i="0">
                <a:solidFill>
                  <a:srgbClr val="9AA0C3"/>
                </a:solidFill>
                <a:latin typeface="Calibri"/>
              </a:rPr>
              <a:t>Two weeks, no new product work — re-randomization plus instrumentation.</a:t>
            </a:r>
          </a:p>
        </p:txBody>
      </p:sp>
      <p:sp>
        <p:nvSpPr>
          <p:cNvPr id="7" name="Oval 6"/>
          <p:cNvSpPr/>
          <p:nvPr/>
        </p:nvSpPr>
        <p:spPr>
          <a:xfrm>
            <a:off x="566928" y="3328416"/>
            <a:ext cx="420624" cy="420624"/>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2</a:t>
            </a:r>
          </a:p>
        </p:txBody>
      </p:sp>
      <p:sp>
        <p:nvSpPr>
          <p:cNvPr id="8" name="TextBox 7"/>
          <p:cNvSpPr txBox="1"/>
          <p:nvPr/>
        </p:nvSpPr>
        <p:spPr>
          <a:xfrm>
            <a:off x="1188720" y="3310128"/>
            <a:ext cx="5394960" cy="292608"/>
          </a:xfrm>
          <a:prstGeom prst="rect">
            <a:avLst/>
          </a:prstGeom>
          <a:noFill/>
        </p:spPr>
        <p:txBody>
          <a:bodyPr wrap="square" lIns="0" rIns="0" tIns="0" bIns="0" anchor="t">
            <a:spAutoFit/>
          </a:bodyPr>
          <a:lstStyle/>
          <a:p>
            <a:pPr algn="l">
              <a:spcBef>
                <a:spcPts val="0"/>
              </a:spcBef>
              <a:spcAft>
                <a:spcPts val="0"/>
              </a:spcAft>
            </a:pPr>
            <a:r>
              <a:rPr sz="1800" b="1" i="0">
                <a:solidFill>
                  <a:srgbClr val="FFFFFF"/>
                </a:solidFill>
                <a:latin typeface="Cambria"/>
              </a:rPr>
              <a:t>Rule on scope</a:t>
            </a:r>
          </a:p>
        </p:txBody>
      </p:sp>
      <p:sp>
        <p:nvSpPr>
          <p:cNvPr id="9" name="TextBox 8"/>
          <p:cNvSpPr txBox="1"/>
          <p:nvPr/>
        </p:nvSpPr>
        <p:spPr>
          <a:xfrm>
            <a:off x="1188720" y="3694176"/>
            <a:ext cx="5394960" cy="868680"/>
          </a:xfrm>
          <a:prstGeom prst="rect">
            <a:avLst/>
          </a:prstGeom>
          <a:noFill/>
        </p:spPr>
        <p:txBody>
          <a:bodyPr wrap="square" lIns="0" rIns="0" tIns="0" bIns="0" anchor="t">
            <a:spAutoFit/>
          </a:bodyPr>
          <a:lstStyle/>
          <a:p>
            <a:pPr algn="l">
              <a:lnSpc>
                <a:spcPct val="130000"/>
              </a:lnSpc>
              <a:spcBef>
                <a:spcPts val="0"/>
              </a:spcBef>
              <a:spcAft>
                <a:spcPts val="0"/>
              </a:spcAft>
            </a:pPr>
            <a:r>
              <a:rPr sz="1300" b="0" i="0">
                <a:solidFill>
                  <a:srgbClr val="9AA0C3"/>
                </a:solidFill>
                <a:latin typeface="Calibri"/>
              </a:rPr>
              <a:t>Keep chasing streak-breakers, or follow the evidence to the intact-streak segment? I recommend the latter — 62% of users, and our only significant result.</a:t>
            </a:r>
          </a:p>
        </p:txBody>
      </p:sp>
      <p:sp>
        <p:nvSpPr>
          <p:cNvPr id="10" name="Oval 9"/>
          <p:cNvSpPr/>
          <p:nvPr/>
        </p:nvSpPr>
        <p:spPr>
          <a:xfrm>
            <a:off x="566928" y="4791456"/>
            <a:ext cx="420624" cy="420624"/>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3</a:t>
            </a:r>
          </a:p>
        </p:txBody>
      </p:sp>
      <p:sp>
        <p:nvSpPr>
          <p:cNvPr id="11" name="TextBox 10"/>
          <p:cNvSpPr txBox="1"/>
          <p:nvPr/>
        </p:nvSpPr>
        <p:spPr>
          <a:xfrm>
            <a:off x="1188720" y="4773168"/>
            <a:ext cx="5394960" cy="292608"/>
          </a:xfrm>
          <a:prstGeom prst="rect">
            <a:avLst/>
          </a:prstGeom>
          <a:noFill/>
        </p:spPr>
        <p:txBody>
          <a:bodyPr wrap="square" lIns="0" rIns="0" tIns="0" bIns="0" anchor="t">
            <a:spAutoFit/>
          </a:bodyPr>
          <a:lstStyle/>
          <a:p>
            <a:pPr algn="l">
              <a:spcBef>
                <a:spcPts val="0"/>
              </a:spcBef>
              <a:spcAft>
                <a:spcPts val="0"/>
              </a:spcAft>
            </a:pPr>
            <a:r>
              <a:rPr sz="1800" b="1" i="0">
                <a:solidFill>
                  <a:srgbClr val="FFFFFF"/>
                </a:solidFill>
                <a:latin typeface="Cambria"/>
              </a:rPr>
              <a:t>A/B test or staged rollout</a:t>
            </a:r>
          </a:p>
        </p:txBody>
      </p:sp>
      <p:sp>
        <p:nvSpPr>
          <p:cNvPr id="12" name="TextBox 11"/>
          <p:cNvSpPr txBox="1"/>
          <p:nvPr/>
        </p:nvSpPr>
        <p:spPr>
          <a:xfrm>
            <a:off x="1188720" y="5157216"/>
            <a:ext cx="5394960" cy="868680"/>
          </a:xfrm>
          <a:prstGeom prst="rect">
            <a:avLst/>
          </a:prstGeom>
          <a:noFill/>
        </p:spPr>
        <p:txBody>
          <a:bodyPr wrap="square" lIns="0" rIns="0" tIns="0" bIns="0" anchor="t">
            <a:spAutoFit/>
          </a:bodyPr>
          <a:lstStyle/>
          <a:p>
            <a:pPr algn="l">
              <a:lnSpc>
                <a:spcPct val="130000"/>
              </a:lnSpc>
              <a:spcBef>
                <a:spcPts val="0"/>
              </a:spcBef>
              <a:spcAft>
                <a:spcPts val="0"/>
              </a:spcAft>
            </a:pPr>
            <a:r>
              <a:rPr sz="1300" b="0" i="0">
                <a:solidFill>
                  <a:srgbClr val="9AA0C3"/>
                </a:solidFill>
                <a:latin typeface="Calibri"/>
              </a:rPr>
              <a:t>This materially changes the timeline I bring you.</a:t>
            </a:r>
          </a:p>
        </p:txBody>
      </p:sp>
      <p:sp>
        <p:nvSpPr>
          <p:cNvPr id="13" name="Rounded Rectangle 12"/>
          <p:cNvSpPr/>
          <p:nvPr/>
        </p:nvSpPr>
        <p:spPr>
          <a:xfrm>
            <a:off x="548640" y="5486400"/>
            <a:ext cx="6035040" cy="713232"/>
          </a:xfrm>
          <a:prstGeom prst="roundRect">
            <a:avLst>
              <a:gd name="adj" fmla="val 4500"/>
            </a:avLst>
          </a:prstGeom>
          <a:solidFill>
            <a:srgbClr val="26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8" y="5632704"/>
            <a:ext cx="5486400" cy="457200"/>
          </a:xfrm>
          <a:prstGeom prst="rect">
            <a:avLst/>
          </a:prstGeom>
          <a:noFill/>
        </p:spPr>
        <p:txBody>
          <a:bodyPr wrap="square" lIns="0" rIns="0" tIns="0" bIns="0" anchor="t">
            <a:spAutoFit/>
          </a:bodyPr>
          <a:lstStyle/>
          <a:p>
            <a:pPr algn="l">
              <a:lnSpc>
                <a:spcPct val="120000"/>
              </a:lnSpc>
              <a:spcBef>
                <a:spcPts val="0"/>
              </a:spcBef>
              <a:spcAft>
                <a:spcPts val="0"/>
              </a:spcAft>
            </a:pPr>
            <a:r>
              <a:rPr sz="1250" b="1" i="0">
                <a:solidFill>
                  <a:srgbClr val="FFC145"/>
                </a:solidFill>
                <a:latin typeface="Calibri"/>
              </a:rPr>
              <a:t>Not asking for: </a:t>
            </a:r>
            <a:r>
              <a:rPr sz="1250" b="0" i="0">
                <a:solidFill>
                  <a:srgbClr val="FFFFFF"/>
                </a:solidFill>
                <a:latin typeface="Calibri"/>
              </a:rPr>
              <a:t>full rollout, a sprint commitment, or a rollout date today.</a:t>
            </a:r>
          </a:p>
        </p:txBody>
      </p:sp>
      <p:graphicFrame>
        <p:nvGraphicFramePr>
          <p:cNvPr id="15" name="Chart 14"/>
          <p:cNvGraphicFramePr>
            <a:graphicFrameLocks noGrp="1"/>
          </p:cNvGraphicFramePr>
          <p:nvPr/>
        </p:nvGraphicFramePr>
        <p:xfrm>
          <a:off x="6949440" y="1783080"/>
          <a:ext cx="4690872" cy="2788920"/>
        </p:xfrm>
        <a:graphic>
          <a:graphicData uri="http://schemas.openxmlformats.org/drawingml/2006/chart">
            <c:chart xmlns:c="http://schemas.openxmlformats.org/drawingml/2006/chart" r:id="rId2"/>
          </a:graphicData>
        </a:graphic>
      </p:graphicFrame>
      <p:sp>
        <p:nvSpPr>
          <p:cNvPr id="16" name="TextBox 15"/>
          <p:cNvSpPr txBox="1"/>
          <p:nvPr/>
        </p:nvSpPr>
        <p:spPr>
          <a:xfrm>
            <a:off x="6949440" y="4645152"/>
            <a:ext cx="4690872" cy="411480"/>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9AA0C3"/>
                </a:solidFill>
                <a:latin typeface="Calibri"/>
              </a:rPr>
              <a:t>Scenario math: the breaker lift alone lands short of target. The non-breaker lift clears it.</a:t>
            </a:r>
          </a:p>
        </p:txBody>
      </p:sp>
      <p:sp>
        <p:nvSpPr>
          <p:cNvPr id="17" name="Rounded Rectangle 16"/>
          <p:cNvSpPr/>
          <p:nvPr/>
        </p:nvSpPr>
        <p:spPr>
          <a:xfrm>
            <a:off x="6949440" y="5193792"/>
            <a:ext cx="4690872" cy="1005840"/>
          </a:xfrm>
          <a:prstGeom prst="roundRect">
            <a:avLst>
              <a:gd name="adj" fmla="val 4500"/>
            </a:avLst>
          </a:prstGeom>
          <a:solidFill>
            <a:srgbClr val="26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223760" y="5431536"/>
            <a:ext cx="137160" cy="137160"/>
          </a:xfrm>
          <a:prstGeom prst="ellipse">
            <a:avLst/>
          </a:prstGeom>
          <a:solidFill>
            <a:srgbClr val="3FB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1504" y="5394960"/>
            <a:ext cx="3931920" cy="228600"/>
          </a:xfrm>
          <a:prstGeom prst="rect">
            <a:avLst/>
          </a:prstGeom>
          <a:noFill/>
        </p:spPr>
        <p:txBody>
          <a:bodyPr wrap="square" lIns="0" rIns="0" tIns="0" bIns="0" anchor="t">
            <a:spAutoFit/>
          </a:bodyPr>
          <a:lstStyle/>
          <a:p>
            <a:pPr algn="l">
              <a:spcBef>
                <a:spcPts val="0"/>
              </a:spcBef>
              <a:spcAft>
                <a:spcPts val="0"/>
              </a:spcAft>
            </a:pPr>
            <a:r>
              <a:rPr sz="1050" b="1" i="0">
                <a:solidFill>
                  <a:srgbClr val="3FB8A0"/>
                </a:solidFill>
                <a:latin typeface="Calibri"/>
              </a:rPr>
              <a:t>YOU GET WITHOUT ASKING</a:t>
            </a:r>
          </a:p>
        </p:txBody>
      </p:sp>
      <p:sp>
        <p:nvSpPr>
          <p:cNvPr id="20" name="TextBox 19"/>
          <p:cNvSpPr txBox="1"/>
          <p:nvPr/>
        </p:nvSpPr>
        <p:spPr>
          <a:xfrm>
            <a:off x="7223760" y="5705856"/>
            <a:ext cx="4206240" cy="41148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Calibri"/>
              </a:rPr>
              <a:t>Rollout date Friday. Cost-of-waiting in users Thursday. Triad outcome in one paragraph.</a:t>
            </a:r>
          </a:p>
        </p:txBody>
      </p:sp>
      <p:sp>
        <p:nvSpPr>
          <p:cNvPr id="21" name="TextBox 20"/>
          <p:cNvSpPr txBox="1"/>
          <p:nvPr/>
        </p:nvSpPr>
        <p:spPr>
          <a:xfrm>
            <a:off x="548640" y="6419088"/>
            <a:ext cx="8229600" cy="274320"/>
          </a:xfrm>
          <a:prstGeom prst="rect">
            <a:avLst/>
          </a:prstGeom>
          <a:noFill/>
        </p:spPr>
        <p:txBody>
          <a:bodyPr wrap="square" lIns="0" rIns="0" tIns="0" bIns="0" anchor="t">
            <a:spAutoFit/>
          </a:bodyPr>
          <a:lstStyle/>
          <a:p>
            <a:pPr algn="l">
              <a:spcBef>
                <a:spcPts val="0"/>
              </a:spcBef>
              <a:spcAft>
                <a:spcPts val="0"/>
              </a:spcAft>
            </a:pPr>
            <a:r>
              <a:rPr sz="900" b="0" i="0">
                <a:solidFill>
                  <a:srgbClr val="9AA0C3"/>
                </a:solidFill>
                <a:latin typeface="Calibri"/>
              </a:rPr>
              <a:t>Comeback Screen  ·  Quarterly Review  ·  2026-10-02</a:t>
            </a:r>
          </a:p>
        </p:txBody>
      </p:sp>
      <p:sp>
        <p:nvSpPr>
          <p:cNvPr id="22" name="TextBox 21"/>
          <p:cNvSpPr txBox="1"/>
          <p:nvPr/>
        </p:nvSpPr>
        <p:spPr>
          <a:xfrm>
            <a:off x="10515600" y="6419088"/>
            <a:ext cx="1124712" cy="274320"/>
          </a:xfrm>
          <a:prstGeom prst="rect">
            <a:avLst/>
          </a:prstGeom>
          <a:noFill/>
        </p:spPr>
        <p:txBody>
          <a:bodyPr wrap="square" lIns="0" rIns="0" tIns="0" bIns="0" anchor="t">
            <a:spAutoFit/>
          </a:bodyPr>
          <a:lstStyle/>
          <a:p>
            <a:pPr algn="r">
              <a:spcBef>
                <a:spcPts val="0"/>
              </a:spcBef>
              <a:spcAft>
                <a:spcPts val="0"/>
              </a:spcAft>
            </a:pPr>
            <a:r>
              <a:rPr sz="900" b="0" i="0">
                <a:solidFill>
                  <a:srgbClr val="9AA0C3"/>
                </a:solidFill>
                <a:latin typeface="Calibri"/>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Comeback Screen - Quarterly Review</dc:title>
  <dc:subject>Day-7 retention: week-5 results and the ask</dc:subject>
  <dc:creator>PM, Engagement Squad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